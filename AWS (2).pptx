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firstSlideNum="0" showSpecialPlsOnTitleSld="0" embedTrueTypeFonts="1" saveSubsetFonts="1">
  <p:sldMasterIdLst>
    <p:sldMasterId id="214748366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8027" autoAdjust="0"/>
    <p:restoredTop sz="84777"/>
  </p:normalViewPr>
  <p:slideViewPr>
    <p:cSldViewPr>
      <p:cViewPr varScale="1">
        <p:scale>
          <a:sx n="100" d="100"/>
          <a:sy n="100" d="100"/>
        </p:scale>
        <p:origin x="1459" y="22"/>
      </p:cViewPr>
      <p:guideLst>
        <p:guide orient="horz" pos="215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slide" Target="slides/slide34.xml"  /><Relationship Id="rId37" Type="http://schemas.openxmlformats.org/officeDocument/2006/relationships/presProps" Target="presProps.xml"  /><Relationship Id="rId38" Type="http://schemas.openxmlformats.org/officeDocument/2006/relationships/viewProps" Target="viewProps.xml"  /><Relationship Id="rId39" Type="http://schemas.openxmlformats.org/officeDocument/2006/relationships/theme" Target="theme/theme1.xml"  /><Relationship Id="rId4" Type="http://schemas.openxmlformats.org/officeDocument/2006/relationships/slide" Target="slides/slide2.xml"  /><Relationship Id="rId40" Type="http://schemas.openxmlformats.org/officeDocument/2006/relationships/tableStyles" Target="tableStyles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D6BA485-E049-4DD6-95CF-54C69AB6BBF0}" type="datetime1">
              <a:rPr lang="ko-KR" altLang="en-US"/>
              <a:pPr lvl="0">
                <a:defRPr/>
              </a:pPr>
              <a:t>2020-03-30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6A1F8AF5-6555-4DEB-A3E2-0F9F2D28522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3.xml"  /><Relationship Id="rId2" Type="http://schemas.openxmlformats.org/officeDocument/2006/relationships/notesMaster" Target="../notesMasters/notesMaster1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5.xml"  /><Relationship Id="rId2" Type="http://schemas.openxmlformats.org/officeDocument/2006/relationships/notesMaster" Target="../notesMasters/notesMaster1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slide" Target="../slides/slide26.xml"  /><Relationship Id="rId2" Type="http://schemas.openxmlformats.org/officeDocument/2006/relationships/notesMaster" Target="../notesMasters/notesMaster1.xml"  /></Relationships>
</file>

<file path=ppt/notesSlides/_rels/notesSlide24.xml.rels><?xml version="1.0" encoding="UTF-8" standalone="yes" ?><Relationships xmlns="http://schemas.openxmlformats.org/package/2006/relationships"><Relationship Id="rId1" Type="http://schemas.openxmlformats.org/officeDocument/2006/relationships/slide" Target="../slides/slide27.xml"  /><Relationship Id="rId2" Type="http://schemas.openxmlformats.org/officeDocument/2006/relationships/notesMaster" Target="../notesMasters/notesMaster1.xml"  /></Relationships>
</file>

<file path=ppt/notesSlides/_rels/notesSlide25.xml.rels><?xml version="1.0" encoding="UTF-8" standalone="yes" ?><Relationships xmlns="http://schemas.openxmlformats.org/package/2006/relationships"><Relationship Id="rId1" Type="http://schemas.openxmlformats.org/officeDocument/2006/relationships/slide" Target="../slides/slide28.xml"  /><Relationship Id="rId2" Type="http://schemas.openxmlformats.org/officeDocument/2006/relationships/notesMaster" Target="../notesMasters/notesMaster1.xml"  /></Relationships>
</file>

<file path=ppt/notesSlides/_rels/notesSlide26.xml.rels><?xml version="1.0" encoding="UTF-8" standalone="yes" ?><Relationships xmlns="http://schemas.openxmlformats.org/package/2006/relationships"><Relationship Id="rId1" Type="http://schemas.openxmlformats.org/officeDocument/2006/relationships/slide" Target="../slides/slide29.xml"  /><Relationship Id="rId2" Type="http://schemas.openxmlformats.org/officeDocument/2006/relationships/notesMaster" Target="../notesMasters/notesMaster1.xml"  /></Relationships>
</file>

<file path=ppt/notesSlides/_rels/notesSlide27.xml.rels><?xml version="1.0" encoding="UTF-8" standalone="yes" ?><Relationships xmlns="http://schemas.openxmlformats.org/package/2006/relationships"><Relationship Id="rId1" Type="http://schemas.openxmlformats.org/officeDocument/2006/relationships/slide" Target="../slides/slide30.xml"  /><Relationship Id="rId2" Type="http://schemas.openxmlformats.org/officeDocument/2006/relationships/notesMaster" Target="../notesMasters/notesMaster1.xml"  /></Relationships>
</file>

<file path=ppt/notesSlides/_rels/notesSlide28.xml.rels><?xml version="1.0" encoding="UTF-8" standalone="yes" ?><Relationships xmlns="http://schemas.openxmlformats.org/package/2006/relationships"><Relationship Id="rId1" Type="http://schemas.openxmlformats.org/officeDocument/2006/relationships/slide" Target="../slides/slide31.xml"  /><Relationship Id="rId2" Type="http://schemas.openxmlformats.org/officeDocument/2006/relationships/notesMaster" Target="../notesMasters/notesMaster1.xml"  /></Relationships>
</file>

<file path=ppt/notesSlides/_rels/notesSlide29.xml.rels><?xml version="1.0" encoding="UTF-8" standalone="yes" ?><Relationships xmlns="http://schemas.openxmlformats.org/package/2006/relationships"><Relationship Id="rId1" Type="http://schemas.openxmlformats.org/officeDocument/2006/relationships/slide" Target="../slides/slide32.xml"  /><Relationship Id="rId2" Type="http://schemas.openxmlformats.org/officeDocument/2006/relationships/notesMaster" Target="../notesMasters/notesMaster1.xml"  /></Relationships>
</file>

<file path=ppt/notesSlides/_rels/notesSlide30.xml.rels><?xml version="1.0" encoding="UTF-8" standalone="yes" ?><Relationships xmlns="http://schemas.openxmlformats.org/package/2006/relationships"><Relationship Id="rId1" Type="http://schemas.openxmlformats.org/officeDocument/2006/relationships/slide" Target="../slides/slide33.xml"  /><Relationship Id="rId2" Type="http://schemas.openxmlformats.org/officeDocument/2006/relationships/notesMaster" Target="../notesMasters/notesMaster1.xml"  /></Relationships>
</file>

<file path=ppt/notesSlides/_rels/notesSlide31.xml.rels><?xml version="1.0" encoding="UTF-8" standalone="yes" ?><Relationships xmlns="http://schemas.openxmlformats.org/package/2006/relationships"><Relationship Id="rId1" Type="http://schemas.openxmlformats.org/officeDocument/2006/relationships/slide" Target="../slides/slide34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윗부분은 클라우드 서비스 이용시 사용자가 직접 관리해야하는 영역</a:t>
            </a:r>
            <a:r>
              <a:rPr lang="en-US" altLang="ko-KR"/>
              <a:t>,</a:t>
            </a:r>
            <a:endParaRPr lang="en-US" altLang="ko-KR"/>
          </a:p>
          <a:p>
            <a:pPr>
              <a:defRPr/>
            </a:pPr>
            <a:r>
              <a:rPr lang="ko-KR" altLang="en-US"/>
              <a:t>밑부분은 클라우드 서비스 제공자가 제공하는 서비스영역</a:t>
            </a:r>
            <a:endParaRPr lang="ko-KR" altLang="en-US"/>
          </a:p>
          <a:p>
            <a:pPr>
              <a:defRPr/>
            </a:pPr>
            <a:r>
              <a:rPr lang="en-US" altLang="ko-KR"/>
              <a:t>PaaS:</a:t>
            </a:r>
            <a:r>
              <a:rPr lang="ko-KR" altLang="en-US"/>
              <a:t> 응용프로그램을 개발하기위한 개발할수있는 안정적인환경이주어짐</a:t>
            </a: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ko-KR"/>
              <a:t>AWS</a:t>
            </a:r>
            <a:r>
              <a:rPr lang="ko-KR" altLang="en-US"/>
              <a:t>같은 경우 전세계에 인프라가 있으므로 사용자는 몇 분만에 전세계에 배포할수있음</a:t>
            </a: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Aws</a:t>
            </a:r>
            <a:r>
              <a:rPr lang="ko-KR" altLang="en-US"/>
              <a:t>의 주력제품 클라우드 서비스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리전 </a:t>
            </a:r>
            <a:r>
              <a:rPr lang="en-US" altLang="ko-KR"/>
              <a:t>: </a:t>
            </a:r>
            <a:r>
              <a:rPr lang="ko-KR" altLang="en-US"/>
              <a:t>서버의 물리적위치</a:t>
            </a:r>
            <a:r>
              <a:rPr lang="en-US" altLang="ko-KR"/>
              <a:t>(</a:t>
            </a:r>
            <a:r>
              <a:rPr lang="ko-KR" altLang="en-US"/>
              <a:t>국가</a:t>
            </a:r>
            <a:r>
              <a:rPr lang="en-US" altLang="ko-KR"/>
              <a:t>)</a:t>
            </a:r>
            <a:endParaRPr lang="en-US" altLang="ko-KR"/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/>
              <a:t>가용 영역 </a:t>
            </a:r>
            <a:r>
              <a:rPr lang="en-US" altLang="ko-KR"/>
              <a:t>: </a:t>
            </a:r>
            <a:r>
              <a:rPr lang="ko-KR" altLang="en-US"/>
              <a:t>리전안에 있는 </a:t>
            </a:r>
            <a:r>
              <a:rPr lang="en-US" altLang="ko-KR"/>
              <a:t>IDC(</a:t>
            </a:r>
            <a:r>
              <a:rPr lang="ko-KR" altLang="en-US"/>
              <a:t>데이터 센터</a:t>
            </a:r>
            <a:r>
              <a:rPr lang="en-US" altLang="ko-KR"/>
              <a:t>)</a:t>
            </a:r>
            <a:endParaRPr lang="en-US" altLang="ko-KR"/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>
              <a:defRPr/>
            </a:pPr>
            <a:r>
              <a:rPr lang="ko-KR" altLang="en-US"/>
              <a:t>가용성</a:t>
            </a:r>
            <a:r>
              <a:rPr lang="en-US" altLang="ko-KR"/>
              <a:t>:</a:t>
            </a:r>
            <a:r>
              <a:rPr lang="ko-KR" altLang="en-US"/>
              <a:t> 다음으로 큰 규모의 클라우드 공급업체보다 가동중단시간이 </a:t>
            </a:r>
            <a:r>
              <a:rPr lang="en-US" altLang="ko-KR"/>
              <a:t>7</a:t>
            </a:r>
            <a:r>
              <a:rPr lang="ko-KR" altLang="en-US"/>
              <a:t>배더낮음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성능</a:t>
            </a:r>
            <a:r>
              <a:rPr lang="en-US" altLang="ko-KR"/>
              <a:t>:</a:t>
            </a:r>
            <a:r>
              <a:rPr lang="ko-KR" altLang="en-US"/>
              <a:t> 필요에따라 리소스를 빠르게구동하여 수백개</a:t>
            </a:r>
            <a:r>
              <a:rPr lang="en-US" altLang="ko-KR"/>
              <a:t>,</a:t>
            </a:r>
            <a:r>
              <a:rPr lang="ko-KR" altLang="en-US"/>
              <a:t> 수천개의 서버를 몇분만에 배포가능</a:t>
            </a:r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Aws</a:t>
            </a:r>
            <a:r>
              <a:rPr lang="ko-KR" altLang="en-US"/>
              <a:t>의 주력제품 클라우드 서비스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Aws</a:t>
            </a:r>
            <a:r>
              <a:rPr lang="ko-KR" altLang="en-US"/>
              <a:t>의 주력제품 클라우드 서비스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Aws</a:t>
            </a:r>
            <a:r>
              <a:rPr lang="ko-KR" altLang="en-US"/>
              <a:t>의 주력제품 클라우드 서비스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Aws</a:t>
            </a:r>
            <a:r>
              <a:rPr lang="ko-KR" altLang="en-US"/>
              <a:t>의 주력제품 클라우드 서비스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Aws</a:t>
            </a:r>
            <a:r>
              <a:rPr lang="ko-KR" altLang="en-US"/>
              <a:t>의 주력제품 클라우드 서비스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Aws</a:t>
            </a:r>
            <a:r>
              <a:rPr lang="ko-KR" altLang="en-US"/>
              <a:t>의 주력제품 클라우드 서비스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Aws</a:t>
            </a:r>
            <a:r>
              <a:rPr lang="ko-KR" altLang="en-US"/>
              <a:t>의 주력제품 클라우드 서비스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Aws</a:t>
            </a:r>
            <a:r>
              <a:rPr lang="ko-KR" altLang="en-US"/>
              <a:t>의 주력제품 클라우드 서비스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Aws</a:t>
            </a:r>
            <a:r>
              <a:rPr lang="ko-KR" altLang="en-US"/>
              <a:t>의 주력제품 클라우드 서비스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Aws</a:t>
            </a:r>
            <a:r>
              <a:rPr lang="ko-KR" altLang="en-US"/>
              <a:t>의 주력제품 클라우드 서비스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컴퓨터 </a:t>
            </a:r>
            <a:r>
              <a:rPr lang="en-US" altLang="ko-KR"/>
              <a:t>1</a:t>
            </a:r>
            <a:r>
              <a:rPr lang="ko-KR" altLang="en-US"/>
              <a:t>대생성</a:t>
            </a:r>
            <a:endParaRPr lang="ko-KR" altLang="en-US"/>
          </a:p>
        </p:txBody>
      </p:sp>
    </p:spTree>
  </p:cSld>
  <p:clrMapOvr>
    <a:masterClrMapping/>
  </p:clrMapOvr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Aws</a:t>
            </a:r>
            <a:r>
              <a:rPr lang="ko-KR" altLang="en-US"/>
              <a:t>의 주력제품 클라우드 서비스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2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Aws</a:t>
            </a:r>
            <a:r>
              <a:rPr lang="ko-KR" altLang="en-US"/>
              <a:t>의 주력제품 클라우드 서비스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2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Aws</a:t>
            </a:r>
            <a:r>
              <a:rPr lang="ko-KR" altLang="en-US"/>
              <a:t>의 주력제품 클라우드 서비스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2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Aws</a:t>
            </a:r>
            <a:r>
              <a:rPr lang="ko-KR" altLang="en-US"/>
              <a:t>의 주력제품 클라우드 서비스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2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Aws</a:t>
            </a:r>
            <a:r>
              <a:rPr lang="ko-KR" altLang="en-US"/>
              <a:t>의 주력제품 클라우드 서비스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2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Aws</a:t>
            </a:r>
            <a:r>
              <a:rPr lang="ko-KR" altLang="en-US"/>
              <a:t>의 주력제품 클라우드 서비스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2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윈도우환경에서는 </a:t>
            </a:r>
            <a:r>
              <a:rPr lang="en-US" altLang="ko-KR"/>
              <a:t>SSH</a:t>
            </a:r>
            <a:r>
              <a:rPr lang="ko-KR" altLang="en-US"/>
              <a:t>가없으므로 원격제어 프로그램을 설치해야함</a:t>
            </a:r>
            <a:endParaRPr lang="ko-KR" altLang="en-US"/>
          </a:p>
        </p:txBody>
      </p:sp>
    </p:spTree>
  </p:cSld>
  <p:clrMapOvr>
    <a:masterClrMapping/>
  </p:clrMapOvr>
</p:notes>
</file>

<file path=ppt/notesSlides/notesSlide2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Aws</a:t>
            </a:r>
            <a:r>
              <a:rPr lang="ko-KR" altLang="en-US"/>
              <a:t>의 주력제품 클라우드 서비스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3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Aws</a:t>
            </a:r>
            <a:r>
              <a:rPr lang="ko-KR" altLang="en-US"/>
              <a:t>의 주력제품 클라우드 서비스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3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Aws</a:t>
            </a:r>
            <a:r>
              <a:rPr lang="ko-KR" altLang="en-US"/>
              <a:t>의 주력제품 클라우드 서비스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F573-BD5B-43B8-9E07-6E79B0E4165F}" type="datetime1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239B-D302-47C8-870F-9A3CEECBE3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D407-5F8C-4A92-B71A-AB78CB64B09E}" type="datetime1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239B-D302-47C8-870F-9A3CEECBE3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FD59-57B6-4DF0-8243-F83049FC989E}" type="datetime1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239B-D302-47C8-870F-9A3CEECBE3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5512A-F75D-47F8-AE0A-008F04C8653D}" type="datetime1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239B-D302-47C8-870F-9A3CEECBE3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4D551-BB91-4156-9CD1-14A4440A1B37}" type="datetime1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239B-D302-47C8-870F-9A3CEECBE3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5E61B-A8A4-4FD3-BB7D-47B61F674A3A}" type="datetime1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239B-D302-47C8-870F-9A3CEECBE3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BA96-0434-4250-ABC8-F7B3FE1764EA}" type="datetime1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239B-D302-47C8-870F-9A3CEECBE3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A8E28-BEED-4345-921A-44C95F14338D}" type="datetime1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239B-D302-47C8-870F-9A3CEECBE3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5C58F-7189-4A13-B235-E0DCAEA14F6B}" type="datetime1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239B-D302-47C8-870F-9A3CEECBE3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A29A1-5AB4-4DC7-B38D-695E82C1AD4B}" type="datetime1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239B-D302-47C8-870F-9A3CEECBE3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51DD-4E81-4F09-B775-5137864929FC}" type="datetime1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239B-D302-47C8-870F-9A3CEECBE3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64D4D8-6FED-4FB4-946D-85532A8B0B24}" type="datetime1">
              <a:rPr lang="ko-KR" altLang="en-US" smtClean="0"/>
              <a:t>2020-03-17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4239B-D302-47C8-870F-9A3CEECBE3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jpe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7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8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9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0.xml"  /><Relationship Id="rId3" Type="http://schemas.openxmlformats.org/officeDocument/2006/relationships/image" Target="../media/image10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1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2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3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6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7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8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9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0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1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2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3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4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5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6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7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8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9.png"  /><Relationship Id="rId4" Type="http://schemas.openxmlformats.org/officeDocument/2006/relationships/image" Target="../media/image30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1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2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3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4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_x334641112" descr="EMB00004704372e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16187" y="2234109"/>
            <a:ext cx="4111625" cy="3863975"/>
          </a:xfrm>
          <a:prstGeom prst="rect">
            <a:avLst/>
          </a:prstGeom>
          <a:noFill/>
        </p:spPr>
      </p:pic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1619672" y="986587"/>
          <a:ext cx="6022683" cy="1126744"/>
        </p:xfrm>
        <a:graphic>
          <a:graphicData uri="http://schemas.openxmlformats.org/drawingml/2006/table">
            <a:tbl>
              <a:tblGrid>
                <a:gridCol w="2852753"/>
                <a:gridCol w="377009"/>
                <a:gridCol w="2792921"/>
              </a:tblGrid>
              <a:tr h="75781">
                <a:tc gridSpan="2">
                  <a:txBody>
                    <a:bodyPr vert="horz" lIns="7239" tIns="7239" rIns="7239" bIns="7239" anchor="ctr" anchorCtr="0"/>
                    <a:p>
                      <a:pPr marL="0" marR="0" indent="0" algn="just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7239" marR="7239" marT="7239" marB="72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b1045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7239" tIns="7239" rIns="7239" bIns="7239" anchor="ctr" anchorCtr="0"/>
                    <a:p>
                      <a:pPr marL="0" marR="0" indent="0" algn="just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7239" marR="7239" marT="7239" marB="72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1a1a1"/>
                    </a:solidFill>
                  </a:tcPr>
                </a:tc>
              </a:tr>
              <a:tr h="772404">
                <a:tc gridSpan="3">
                  <a:txBody>
                    <a:bodyPr vert="horz" lIns="64769" tIns="17907" rIns="64769" bIns="17907" anchor="ctr" anchorCtr="0"/>
                    <a:p>
                      <a:pPr marL="0" marR="0" indent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3500" b="1" kern="0" spc="0">
                          <a:solidFill>
                            <a:srgbClr val="000000"/>
                          </a:solidFill>
                          <a:effectLst/>
                          <a:latin typeface="KoPub돋움체_Pro Bold"/>
                          <a:ea typeface="KoPub돋움체_Pro Bold"/>
                          <a:cs typeface="Calibri"/>
                        </a:rPr>
                        <a:t>AWS(Amazon Web Service)</a:t>
                      </a:r>
                      <a:endParaRPr lang="ko-KR" altLang="en-US" sz="3500" b="1" kern="0" spc="0">
                        <a:solidFill>
                          <a:srgbClr val="000000"/>
                        </a:solidFill>
                        <a:effectLst/>
                        <a:latin typeface="KoPub돋움체_Pro Bold"/>
                        <a:ea typeface="KoPub돋움체_Pro Bold"/>
                        <a:cs typeface="Calibri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75781">
                <a:tc>
                  <a:txBody>
                    <a:bodyPr vert="horz" lIns="7239" tIns="7239" rIns="7239" bIns="7239" anchor="ctr" anchorCtr="0"/>
                    <a:p>
                      <a:pPr marL="0" marR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ko-KR" altLang="en-US" sz="100" b="1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7239" marR="7239" marT="7239" marB="72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1a1a1"/>
                    </a:solidFill>
                  </a:tcPr>
                </a:tc>
                <a:tc gridSpan="2">
                  <a:txBody>
                    <a:bodyPr vert="horz" lIns="7239" tIns="7239" rIns="7239" bIns="7239" anchor="ctr" anchorCtr="0"/>
                    <a:p>
                      <a:pPr marL="0" marR="0" indent="0" algn="just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" b="1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바탕"/>
                      </a:endParaRPr>
                    </a:p>
                  </a:txBody>
                  <a:tcPr marL="7239" marR="7239" marT="7239" marB="72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b1045"/>
                    </a:solidFill>
                  </a:tcPr>
                </a:tc>
                <a:tc hMerge="1">
                  <a:txBody>
                    <a:bodyPr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latin typeface="KoPub돋움체_Pro Bold"/>
              <a:ea typeface="KoPub돋움체_Pro Bold"/>
            </a:endParaRPr>
          </a:p>
        </p:txBody>
      </p:sp>
      <p:sp>
        <p:nvSpPr>
          <p:cNvPr id="4" name="사각형: 둥근 모서리 3"/>
          <p:cNvSpPr/>
          <p:nvPr/>
        </p:nvSpPr>
        <p:spPr>
          <a:xfrm>
            <a:off x="323528" y="188640"/>
            <a:ext cx="8496944" cy="6346195"/>
          </a:xfrm>
          <a:prstGeom prst="roundRect">
            <a:avLst>
              <a:gd name="adj" fmla="val 16667"/>
            </a:avLst>
          </a:prstGeom>
          <a:noFill/>
          <a:ln>
            <a:solidFill>
              <a:srgbClr val="90400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732240" y="5574864"/>
            <a:ext cx="31287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/>
              <a:t>2015040017 </a:t>
            </a:r>
            <a:r>
              <a:rPr lang="ko-KR" altLang="en-US" sz="1400"/>
              <a:t>정택민</a:t>
            </a:r>
            <a:endParaRPr lang="ko-KR" altLang="en-US" sz="1400"/>
          </a:p>
          <a:p>
            <a:pPr lvl="0">
              <a:defRPr/>
            </a:pPr>
            <a:r>
              <a:rPr lang="en-US" altLang="ko-KR" sz="1400"/>
              <a:t>2017035208 </a:t>
            </a:r>
            <a:r>
              <a:rPr lang="ko-KR" altLang="en-US" sz="1400"/>
              <a:t>곽나경</a:t>
            </a:r>
            <a:endParaRPr lang="ko-KR" alt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0" y="-16478"/>
            <a:ext cx="9144000" cy="6858000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cxnSp>
        <p:nvCxnSpPr>
          <p:cNvPr id="41" name="직선 연결선 40"/>
          <p:cNvCxnSpPr>
            <a:cxnSpLocks/>
          </p:cNvCxnSpPr>
          <p:nvPr/>
        </p:nvCxnSpPr>
        <p:spPr>
          <a:xfrm>
            <a:off x="2389236" y="2807744"/>
            <a:ext cx="403244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797114" y="5081636"/>
            <a:ext cx="57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5400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cxnSp>
        <p:nvCxnSpPr>
          <p:cNvPr id="65" name="직선 연결선 64"/>
          <p:cNvCxnSpPr>
            <a:cxnSpLocks/>
          </p:cNvCxnSpPr>
          <p:nvPr/>
        </p:nvCxnSpPr>
        <p:spPr>
          <a:xfrm>
            <a:off x="2356464" y="5058615"/>
            <a:ext cx="403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76"/>
          <p:cNvGrpSpPr/>
          <p:nvPr/>
        </p:nvGrpSpPr>
        <p:grpSpPr>
          <a:xfrm>
            <a:off x="-1643212" y="2209208"/>
            <a:ext cx="4032448" cy="1368152"/>
            <a:chOff x="-2196872" y="1400107"/>
            <a:chExt cx="4032448" cy="1368152"/>
          </a:xfrm>
        </p:grpSpPr>
        <p:sp>
          <p:nvSpPr>
            <p:cNvPr id="39" name="TextBox 38"/>
            <p:cNvSpPr txBox="1"/>
            <p:nvPr/>
          </p:nvSpPr>
          <p:spPr>
            <a:xfrm>
              <a:off x="-2196872" y="1844929"/>
              <a:ext cx="5760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ko-KR" sz="5400" dirty="0">
                <a:solidFill>
                  <a:srgbClr val="0C2759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endParaRPr>
            </a:p>
          </p:txBody>
        </p:sp>
        <p:sp>
          <p:nvSpPr>
            <p:cNvPr id="73" name="이등변 삼각형 72"/>
            <p:cNvSpPr/>
            <p:nvPr/>
          </p:nvSpPr>
          <p:spPr>
            <a:xfrm>
              <a:off x="1403528" y="1400107"/>
              <a:ext cx="432048" cy="360040"/>
            </a:xfrm>
            <a:prstGeom prst="triangle">
              <a:avLst>
                <a:gd name="adj" fmla="val 1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옛날목욕탕L" panose="02020600000000000000" pitchFamily="18" charset="-127"/>
                <a:ea typeface="a옛날목욕탕L" panose="02020600000000000000" pitchFamily="18" charset="-127"/>
              </a:endParaRPr>
            </a:p>
          </p:txBody>
        </p:sp>
      </p:grpSp>
      <p:cxnSp>
        <p:nvCxnSpPr>
          <p:cNvPr id="83" name="직선 연결선 82"/>
          <p:cNvCxnSpPr>
            <a:cxnSpLocks/>
          </p:cNvCxnSpPr>
          <p:nvPr/>
        </p:nvCxnSpPr>
        <p:spPr>
          <a:xfrm>
            <a:off x="2356464" y="3978495"/>
            <a:ext cx="403244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61680" y="763446"/>
            <a:ext cx="4104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rgbClr val="F33A24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INDEX</a:t>
            </a:r>
          </a:p>
        </p:txBody>
      </p:sp>
      <p:grpSp>
        <p:nvGrpSpPr>
          <p:cNvPr id="5" name="그룹 96"/>
          <p:cNvGrpSpPr/>
          <p:nvPr/>
        </p:nvGrpSpPr>
        <p:grpSpPr>
          <a:xfrm>
            <a:off x="2990702" y="757486"/>
            <a:ext cx="526406" cy="623691"/>
            <a:chOff x="3347862" y="3212974"/>
            <a:chExt cx="526406" cy="623691"/>
          </a:xfrm>
        </p:grpSpPr>
        <p:cxnSp>
          <p:nvCxnSpPr>
            <p:cNvPr id="94" name="직선 연결선 93"/>
            <p:cNvCxnSpPr/>
            <p:nvPr/>
          </p:nvCxnSpPr>
          <p:spPr>
            <a:xfrm>
              <a:off x="3563888" y="3260601"/>
              <a:ext cx="0" cy="57606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이등변 삼각형 94"/>
            <p:cNvSpPr/>
            <p:nvPr/>
          </p:nvSpPr>
          <p:spPr>
            <a:xfrm rot="5400000">
              <a:off x="3539057" y="3237805"/>
              <a:ext cx="360041" cy="310380"/>
            </a:xfrm>
            <a:prstGeom prst="triangle">
              <a:avLst/>
            </a:prstGeom>
            <a:solidFill>
              <a:schemeClr val="bg1">
                <a:alpha val="7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옛날목욕탕L" panose="02020600000000000000" pitchFamily="18" charset="-127"/>
                <a:ea typeface="a옛날목욕탕L" panose="02020600000000000000" pitchFamily="18" charset="-127"/>
              </a:endParaRPr>
            </a:p>
          </p:txBody>
        </p:sp>
        <p:sp>
          <p:nvSpPr>
            <p:cNvPr id="96" name="이등변 삼각형 95"/>
            <p:cNvSpPr/>
            <p:nvPr/>
          </p:nvSpPr>
          <p:spPr>
            <a:xfrm rot="16200000">
              <a:off x="3330580" y="3406383"/>
              <a:ext cx="250590" cy="216026"/>
            </a:xfrm>
            <a:prstGeom prst="triangle">
              <a:avLst/>
            </a:prstGeom>
            <a:solidFill>
              <a:srgbClr val="F33A24">
                <a:alpha val="7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옛날목욕탕L" panose="02020600000000000000" pitchFamily="18" charset="-127"/>
                <a:ea typeface="a옛날목욕탕L" panose="02020600000000000000" pitchFamily="18" charset="-127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0247C421-D27D-4CC7-A51E-14009E647F78}"/>
              </a:ext>
            </a:extLst>
          </p:cNvPr>
          <p:cNvSpPr txBox="1"/>
          <p:nvPr/>
        </p:nvSpPr>
        <p:spPr>
          <a:xfrm>
            <a:off x="3042250" y="4409278"/>
            <a:ext cx="36003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AWS </a:t>
            </a:r>
            <a:r>
              <a:rPr lang="ko-KR" altLang="en-US" sz="25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특징</a:t>
            </a:r>
            <a:endParaRPr lang="en-US" altLang="ko-KR" sz="2500" dirty="0">
              <a:solidFill>
                <a:schemeClr val="bg1"/>
              </a:solidFill>
              <a:latin typeface="KoPub돋움체_Pro Bold" panose="00000800000000000000" pitchFamily="50" charset="-127"/>
              <a:ea typeface="KoPub돋움체_Pro Bold" panose="00000800000000000000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64782" y="1905942"/>
            <a:ext cx="57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4782" y="3012340"/>
            <a:ext cx="57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2</a:t>
            </a:r>
          </a:p>
        </p:txBody>
      </p:sp>
      <p:sp>
        <p:nvSpPr>
          <p:cNvPr id="33" name="이등변 삼각형 32"/>
          <p:cNvSpPr/>
          <p:nvPr/>
        </p:nvSpPr>
        <p:spPr>
          <a:xfrm>
            <a:off x="1924472" y="3353521"/>
            <a:ext cx="432048" cy="36004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34" name="이등변 삼각형 33"/>
          <p:cNvSpPr/>
          <p:nvPr/>
        </p:nvSpPr>
        <p:spPr>
          <a:xfrm>
            <a:off x="1924472" y="4499391"/>
            <a:ext cx="415280" cy="360040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47C421-D27D-4CC7-A51E-14009E647F78}"/>
              </a:ext>
            </a:extLst>
          </p:cNvPr>
          <p:cNvSpPr txBox="1"/>
          <p:nvPr/>
        </p:nvSpPr>
        <p:spPr>
          <a:xfrm>
            <a:off x="2987824" y="2148251"/>
            <a:ext cx="424847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클라우드 컴퓨팅이란</a:t>
            </a:r>
            <a:r>
              <a:rPr lang="en-US" altLang="ko-KR" sz="25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D0B7781-4127-4AA1-A2C6-8C51B8B94719}"/>
              </a:ext>
            </a:extLst>
          </p:cNvPr>
          <p:cNvSpPr txBox="1"/>
          <p:nvPr/>
        </p:nvSpPr>
        <p:spPr>
          <a:xfrm>
            <a:off x="35496" y="6396261"/>
            <a:ext cx="41116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충북대학교 </a:t>
            </a:r>
            <a:r>
              <a:rPr lang="en-US" altLang="ko-KR" sz="15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SW</a:t>
            </a:r>
            <a:r>
              <a:rPr lang="ko-KR" altLang="en-US" sz="15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중심대학사업단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ED27730-AECF-4486-80CF-EFED2E2533AA}"/>
              </a:ext>
            </a:extLst>
          </p:cNvPr>
          <p:cNvSpPr txBox="1"/>
          <p:nvPr/>
        </p:nvSpPr>
        <p:spPr>
          <a:xfrm>
            <a:off x="2987824" y="3275255"/>
            <a:ext cx="36003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AWS </a:t>
            </a:r>
            <a:r>
              <a:rPr lang="ko-KR" altLang="en-US" sz="25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소개</a:t>
            </a:r>
            <a:endParaRPr lang="en-US" altLang="ko-KR" sz="2500" dirty="0">
              <a:solidFill>
                <a:schemeClr val="bg1"/>
              </a:solidFill>
              <a:latin typeface="KoPub돋움체_Pro Bold" panose="00000800000000000000" pitchFamily="50" charset="-127"/>
              <a:ea typeface="KoPub돋움체_Pro Bold" panose="000008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134023-BD2A-47E2-AEDD-9BAEA40AABE5}"/>
              </a:ext>
            </a:extLst>
          </p:cNvPr>
          <p:cNvSpPr txBox="1"/>
          <p:nvPr/>
        </p:nvSpPr>
        <p:spPr>
          <a:xfrm>
            <a:off x="2464782" y="4155488"/>
            <a:ext cx="57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68636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4718" y="527474"/>
            <a:ext cx="538941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rgbClr val="0C2759"/>
                </a:solidFill>
                <a:latin typeface="+mj-lt"/>
                <a:ea typeface="a옛날목욕탕L" panose="02020600000000000000" pitchFamily="18" charset="-127"/>
              </a:rPr>
              <a:t>1.1 </a:t>
            </a:r>
            <a:r>
              <a:rPr lang="ko-KR" altLang="en-US" sz="3200" b="1" dirty="0">
                <a:solidFill>
                  <a:srgbClr val="0C2759"/>
                </a:solidFill>
                <a:latin typeface="+mj-lt"/>
                <a:ea typeface="a옛날목욕탕L" panose="02020600000000000000" pitchFamily="18" charset="-127"/>
              </a:rPr>
              <a:t>클라우드 컴퓨팅의 정의</a:t>
            </a:r>
            <a:endParaRPr lang="en-US" altLang="ko-KR" sz="3200" b="1" dirty="0">
              <a:solidFill>
                <a:srgbClr val="0C2759"/>
              </a:solidFill>
              <a:latin typeface="+mj-lt"/>
              <a:ea typeface="a옛날목욕탕L" panose="02020600000000000000" pitchFamily="18" charset="-127"/>
            </a:endParaRPr>
          </a:p>
        </p:txBody>
      </p:sp>
      <p:cxnSp>
        <p:nvCxnSpPr>
          <p:cNvPr id="39" name="직선 연결선 38"/>
          <p:cNvCxnSpPr>
            <a:cxnSpLocks/>
          </p:cNvCxnSpPr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FCF75DC-66D0-4E0E-962A-101C31FCC982}"/>
              </a:ext>
            </a:extLst>
          </p:cNvPr>
          <p:cNvSpPr/>
          <p:nvPr/>
        </p:nvSpPr>
        <p:spPr>
          <a:xfrm>
            <a:off x="603000" y="4792407"/>
            <a:ext cx="8083800" cy="1593665"/>
          </a:xfrm>
          <a:prstGeom prst="roundRect">
            <a:avLst/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431E30-16C2-47C8-AFC1-8E9077BB7DE8}"/>
              </a:ext>
            </a:extLst>
          </p:cNvPr>
          <p:cNvSpPr txBox="1"/>
          <p:nvPr/>
        </p:nvSpPr>
        <p:spPr>
          <a:xfrm>
            <a:off x="814729" y="4958297"/>
            <a:ext cx="766034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ea typeface="KoPub돋움체_Pro Bold" panose="00000800000000000000" pitchFamily="50" charset="-127"/>
              </a:rPr>
              <a:t>클라우드 컴퓨팅</a:t>
            </a:r>
            <a:endParaRPr lang="en-US" altLang="ko-KR" sz="2400" b="1" dirty="0">
              <a:solidFill>
                <a:schemeClr val="bg1"/>
              </a:solidFill>
              <a:ea typeface="KoPub돋움체_Pro Bold" panose="00000800000000000000" pitchFamily="50" charset="-127"/>
            </a:endParaRPr>
          </a:p>
          <a:p>
            <a:endParaRPr lang="en-US" altLang="ko-KR" sz="1200" dirty="0">
              <a:solidFill>
                <a:schemeClr val="bg1"/>
              </a:solidFill>
              <a:ea typeface="KoPub돋움체_Pro Bold" panose="00000800000000000000" pitchFamily="50" charset="-127"/>
            </a:endParaRPr>
          </a:p>
          <a:p>
            <a:r>
              <a:rPr lang="ko-KR" altLang="en-US" sz="2000" dirty="0">
                <a:solidFill>
                  <a:schemeClr val="bg1"/>
                </a:solidFill>
              </a:rPr>
              <a:t>정보가 인터넷 상의 서버에 영구적으로 저장되고</a:t>
            </a:r>
            <a:r>
              <a:rPr lang="en-US" altLang="ko-KR" sz="2000" dirty="0">
                <a:solidFill>
                  <a:schemeClr val="bg1"/>
                </a:solidFill>
              </a:rPr>
              <a:t>, </a:t>
            </a:r>
            <a:r>
              <a:rPr lang="ko-KR" altLang="en-US" sz="2000" dirty="0">
                <a:solidFill>
                  <a:schemeClr val="bg1"/>
                </a:solidFill>
              </a:rPr>
              <a:t>클라이언트에는 일시적으로 보관되는 컴퓨터 환경</a:t>
            </a:r>
            <a:endParaRPr lang="en-US" altLang="ko-KR" sz="2000" dirty="0">
              <a:solidFill>
                <a:schemeClr val="bg1"/>
              </a:solidFill>
              <a:ea typeface="KoPub돋움체_Pro Bold" panose="00000800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153ADD-044A-412B-B7C7-BF1A8FCF4B02}"/>
              </a:ext>
            </a:extLst>
          </p:cNvPr>
          <p:cNvSpPr txBox="1"/>
          <p:nvPr/>
        </p:nvSpPr>
        <p:spPr>
          <a:xfrm>
            <a:off x="0" y="6534835"/>
            <a:ext cx="41116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충북대학교 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SW</a:t>
            </a: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중심대학사업단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70E2AAE-AE1F-486D-968A-C387C15FE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fld id="{7804239B-D302-47C8-870F-9A3CEECBE377}" type="slidenum">
              <a:rPr lang="ko-KR" altLang="en-US" b="1" smtClean="0">
                <a:solidFill>
                  <a:schemeClr val="bg1">
                    <a:lumMod val="50000"/>
                  </a:schemeClr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pPr/>
              <a:t>2</a:t>
            </a:fld>
            <a:endParaRPr lang="ko-KR" altLang="en-US" b="1" dirty="0">
              <a:solidFill>
                <a:schemeClr val="bg1">
                  <a:lumMod val="50000"/>
                </a:schemeClr>
              </a:solidFill>
              <a:latin typeface="KoPub돋움체_Pro Bold" panose="00000800000000000000" pitchFamily="50" charset="-127"/>
              <a:ea typeface="KoPub돋움체_Pro Bold" panose="00000800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EA0A3D1-7B0C-45C4-949E-B492EE2FA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648" y="1725428"/>
            <a:ext cx="4682703" cy="288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783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그림 10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78033" y="1844824"/>
            <a:ext cx="7972425" cy="3944022"/>
          </a:xfrm>
          <a:prstGeom prst="rect">
            <a:avLst/>
          </a:prstGeom>
        </p:spPr>
      </p:pic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150" y="442389"/>
            <a:ext cx="6363090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1.2 </a:t>
            </a:r>
            <a:r>
              <a:rPr lang="ko-KR" altLang="en-US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클라우드 컴퓨팅의 등장 배경</a:t>
            </a:r>
            <a:endParaRPr lang="en-US" altLang="ko-KR" sz="3200" b="1" dirty="0">
              <a:solidFill>
                <a:srgbClr val="0C2759"/>
              </a:solidFill>
              <a:latin typeface="a옛날목욕탕L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3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90980" y="511070"/>
            <a:ext cx="6192688" cy="5728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>
                <a:solidFill>
                  <a:srgbClr val="0c2759"/>
                </a:solidFill>
                <a:latin typeface="a옛날목욕탕L"/>
                <a:ea typeface="a옛날목욕탕L"/>
              </a:rPr>
              <a:t>1.3 </a:t>
            </a:r>
            <a:r>
              <a:rPr lang="ko-KR" altLang="en-US" sz="3200" b="1">
                <a:solidFill>
                  <a:srgbClr val="0c2759"/>
                </a:solidFill>
                <a:latin typeface="a옛날목욕탕L"/>
                <a:ea typeface="a옛날목욕탕L"/>
              </a:rPr>
              <a:t>클라우드 컴퓨팅의 유형</a:t>
            </a:r>
            <a:endParaRPr lang="ko-KR" altLang="en-US" sz="3200" b="1">
              <a:solidFill>
                <a:srgbClr val="0c2759"/>
              </a:solidFill>
              <a:latin typeface="a옛날목욕탕L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/>
          <p:cNvSpPr/>
          <p:nvPr/>
        </p:nvSpPr>
        <p:spPr>
          <a:xfrm>
            <a:off x="467544" y="2381419"/>
            <a:ext cx="1944216" cy="576066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>
              <a:latin typeface="a옛날목욕탕L"/>
              <a:ea typeface="a옛날목욕탕L"/>
            </a:endParaRPr>
          </a:p>
          <a:p>
            <a:pPr algn="ctr">
              <a:defRPr/>
            </a:pPr>
            <a:r>
              <a:rPr lang="en-US" altLang="ko-KR" b="1">
                <a:latin typeface="a옛날목욕탕L"/>
                <a:ea typeface="a옛날목욕탕L"/>
              </a:rPr>
              <a:t>IAAS</a:t>
            </a:r>
            <a:endParaRPr lang="en-US" altLang="ko-KR" b="1">
              <a:latin typeface="a옛날목욕탕L"/>
              <a:ea typeface="a옛날목욕탕L"/>
            </a:endParaRPr>
          </a:p>
          <a:p>
            <a:pPr algn="ctr">
              <a:defRPr/>
            </a:pPr>
            <a:endParaRPr lang="en-US" altLang="ko-KR">
              <a:latin typeface="a옛날목욕탕L"/>
              <a:ea typeface="a옛날목욕탕L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4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sp>
        <p:nvSpPr>
          <p:cNvPr id="2051" name="사각형: 둥근 모서리 7"/>
          <p:cNvSpPr/>
          <p:nvPr/>
        </p:nvSpPr>
        <p:spPr>
          <a:xfrm>
            <a:off x="467544" y="3519689"/>
            <a:ext cx="1944216" cy="576066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>
                <a:latin typeface="a옛날목욕탕L"/>
                <a:ea typeface="a옛날목욕탕L"/>
              </a:rPr>
              <a:t>PAAS</a:t>
            </a:r>
            <a:endParaRPr lang="en-US" altLang="ko-KR" b="1">
              <a:latin typeface="a옛날목욕탕L"/>
              <a:ea typeface="a옛날목욕탕L"/>
            </a:endParaRPr>
          </a:p>
        </p:txBody>
      </p:sp>
      <p:sp>
        <p:nvSpPr>
          <p:cNvPr id="2052" name="사각형: 둥근 모서리 7"/>
          <p:cNvSpPr/>
          <p:nvPr/>
        </p:nvSpPr>
        <p:spPr>
          <a:xfrm>
            <a:off x="467544" y="4685675"/>
            <a:ext cx="1872208" cy="576066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>
                <a:latin typeface="a옛날목욕탕L"/>
                <a:ea typeface="a옛날목욕탕L"/>
              </a:rPr>
              <a:t>SAAS</a:t>
            </a:r>
            <a:endParaRPr lang="en-US" altLang="ko-KR" b="1">
              <a:latin typeface="a옛날목욕탕L"/>
              <a:ea typeface="a옛날목욕탕L"/>
            </a:endParaRPr>
          </a:p>
        </p:txBody>
      </p:sp>
      <p:sp>
        <p:nvSpPr>
          <p:cNvPr id="2054" name="직사각형 2053"/>
          <p:cNvSpPr/>
          <p:nvPr/>
        </p:nvSpPr>
        <p:spPr>
          <a:xfrm>
            <a:off x="2771800" y="2165397"/>
            <a:ext cx="5492612" cy="936103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소프트웨어</a:t>
            </a:r>
            <a:r>
              <a:rPr lang="en-US" altLang="ko-KR"/>
              <a:t>,</a:t>
            </a:r>
            <a:r>
              <a:rPr lang="ko-KR" altLang="en-US"/>
              <a:t> 서비스 구축을 위해 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인프라만 제공해주는 형태</a:t>
            </a:r>
            <a:br>
              <a:rPr lang="ko-KR" altLang="en-US"/>
            </a:br>
            <a:r>
              <a:rPr lang="en-US" altLang="ko-KR" sz="1600"/>
              <a:t>ex) </a:t>
            </a:r>
            <a:r>
              <a:rPr lang="ko-KR" altLang="en-US" sz="1600"/>
              <a:t>아마존 </a:t>
            </a:r>
            <a:r>
              <a:rPr lang="en-US" altLang="ko-KR" sz="1600"/>
              <a:t>AWS,</a:t>
            </a:r>
            <a:r>
              <a:rPr lang="ko-KR" altLang="en-US" sz="1600"/>
              <a:t> 마이크로소프트 </a:t>
            </a:r>
            <a:r>
              <a:rPr lang="en-US" altLang="ko-KR" sz="1600"/>
              <a:t>AZURE</a:t>
            </a:r>
            <a:endParaRPr lang="en-US" altLang="ko-KR" sz="1600"/>
          </a:p>
        </p:txBody>
      </p:sp>
      <p:sp>
        <p:nvSpPr>
          <p:cNvPr id="2055" name="직사각형 2054"/>
          <p:cNvSpPr/>
          <p:nvPr/>
        </p:nvSpPr>
        <p:spPr>
          <a:xfrm>
            <a:off x="2771800" y="3422073"/>
            <a:ext cx="5492611" cy="864096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소프트웨어 개발 및 관리에 필요한 환경을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 제공해주는 형태</a:t>
            </a:r>
            <a:endParaRPr lang="ko-KR" altLang="en-US"/>
          </a:p>
          <a:p>
            <a:pPr algn="ctr">
              <a:defRPr/>
            </a:pPr>
            <a:r>
              <a:rPr lang="en-US" altLang="ko-KR" sz="1600"/>
              <a:t>ex) </a:t>
            </a:r>
            <a:r>
              <a:rPr lang="ko-KR" altLang="en-US" sz="1600"/>
              <a:t>구글앱엔진</a:t>
            </a:r>
            <a:r>
              <a:rPr lang="en-US" altLang="ko-KR" sz="1600"/>
              <a:t>,</a:t>
            </a:r>
            <a:r>
              <a:rPr lang="ko-KR" altLang="en-US" sz="1600"/>
              <a:t> </a:t>
            </a:r>
            <a:endParaRPr lang="ko-KR" altLang="en-US" sz="1600"/>
          </a:p>
        </p:txBody>
      </p:sp>
      <p:sp>
        <p:nvSpPr>
          <p:cNvPr id="2056" name="직사각형 2055"/>
          <p:cNvSpPr/>
          <p:nvPr/>
        </p:nvSpPr>
        <p:spPr>
          <a:xfrm>
            <a:off x="2778190" y="4562506"/>
            <a:ext cx="5486221" cy="864096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기본 인프라는 물론 바로 사용할 수 있는 </a:t>
            </a:r>
            <a:endParaRPr lang="ko-KR" altLang="en-US"/>
          </a:p>
          <a:p>
            <a:pPr algn="ctr">
              <a:defRPr/>
            </a:pPr>
            <a:r>
              <a:rPr lang="ko-KR" altLang="en-US"/>
              <a:t>애플리케이션까지 제공해주는 형태</a:t>
            </a:r>
            <a:endParaRPr lang="ko-KR" altLang="en-US"/>
          </a:p>
          <a:p>
            <a:pPr algn="ctr">
              <a:defRPr/>
            </a:pPr>
            <a:r>
              <a:rPr lang="en-US" altLang="ko-KR" sz="1600"/>
              <a:t>ex) </a:t>
            </a:r>
            <a:r>
              <a:rPr lang="ko-KR" altLang="en-US" sz="1600"/>
              <a:t> 구글드라이브</a:t>
            </a:r>
            <a:r>
              <a:rPr lang="en-US" altLang="ko-KR" sz="1600"/>
              <a:t>,</a:t>
            </a:r>
            <a:r>
              <a:rPr lang="ko-KR" altLang="en-US" sz="1600"/>
              <a:t> </a:t>
            </a:r>
            <a:r>
              <a:rPr lang="en-US" altLang="ko-KR" sz="1600"/>
              <a:t>N</a:t>
            </a:r>
            <a:r>
              <a:rPr lang="ko-KR" altLang="en-US" sz="1600"/>
              <a:t>드라이브</a:t>
            </a:r>
            <a:endParaRPr lang="ko-KR" altLang="en-US" sz="1600"/>
          </a:p>
        </p:txBody>
      </p:sp>
      <p:pic>
        <p:nvPicPr>
          <p:cNvPr id="2057" name="그림 205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175620" y="2010313"/>
            <a:ext cx="6364932" cy="4226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4617" y="474178"/>
            <a:ext cx="5256584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1.4 </a:t>
            </a:r>
            <a:r>
              <a:rPr lang="ko-KR" altLang="en-US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클라우드 컴퓨팅의 이점</a:t>
            </a:r>
            <a:endParaRPr lang="en-US" altLang="ko-KR" sz="3200" b="1" dirty="0">
              <a:solidFill>
                <a:srgbClr val="0C2759"/>
              </a:solidFill>
              <a:latin typeface="a옛날목욕탕L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2"/>
          <p:cNvSpPr>
            <a:spLocks noChangeArrowheads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5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</a:p>
        </p:txBody>
      </p:sp>
      <p:pic>
        <p:nvPicPr>
          <p:cNvPr id="1040" name="그림 103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40597" y="1588311"/>
            <a:ext cx="7800974" cy="4444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045" y="489739"/>
            <a:ext cx="3744416" cy="5751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2.1 AWS 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소개</a:t>
            </a:r>
            <a:endParaRPr lang="en-US" altLang="ko-KR" sz="3200" b="1">
              <a:solidFill>
                <a:srgbClr val="0c2759"/>
              </a:solidFill>
              <a:latin typeface="+mj-lt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/>
          <p:cNvSpPr/>
          <p:nvPr/>
        </p:nvSpPr>
        <p:spPr>
          <a:xfrm>
            <a:off x="971600" y="4428304"/>
            <a:ext cx="6965873" cy="1593805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78172" y="4532708"/>
            <a:ext cx="6552728" cy="1370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 b="1">
                <a:solidFill>
                  <a:schemeClr val="bg1"/>
                </a:solidFill>
                <a:ea typeface="KoPub돋움체_Pro Bold"/>
              </a:rPr>
              <a:t>Amazon Web Service</a:t>
            </a:r>
            <a:endParaRPr lang="en-US" altLang="ko-KR" sz="2400" b="1">
              <a:solidFill>
                <a:schemeClr val="bg1"/>
              </a:solidFill>
              <a:ea typeface="KoPub돋움체_Pro Bold"/>
            </a:endParaRPr>
          </a:p>
          <a:p>
            <a:pPr lvl="0">
              <a:defRPr/>
            </a:pPr>
            <a:endParaRPr lang="en-US" altLang="ko-KR" sz="2000">
              <a:solidFill>
                <a:schemeClr val="bg1"/>
              </a:solidFill>
              <a:ea typeface="KoPub돋움체_Pro Bold"/>
            </a:endParaRPr>
          </a:p>
          <a:p>
            <a:pPr lvl="0">
              <a:defRPr/>
            </a:pPr>
            <a:r>
              <a:rPr lang="ko-KR" altLang="en-US" sz="2000">
                <a:solidFill>
                  <a:schemeClr val="bg1"/>
                </a:solidFill>
                <a:latin typeface="KoPub돋움체_Pro Bold"/>
                <a:ea typeface="KoPub돋움체_Pro Bold"/>
              </a:rPr>
              <a:t>Amazon에서 제공하는 클라우드 서비스로, 서버</a:t>
            </a:r>
            <a:r>
              <a:rPr lang="en-US" altLang="ko-KR" sz="2000">
                <a:solidFill>
                  <a:schemeClr val="bg1"/>
                </a:solidFill>
                <a:latin typeface="KoPub돋움체_Pro Bold"/>
                <a:ea typeface="KoPub돋움체_Pro Bold"/>
              </a:rPr>
              <a:t>, </a:t>
            </a:r>
            <a:r>
              <a:rPr lang="ko-KR" altLang="en-US" sz="2000">
                <a:solidFill>
                  <a:schemeClr val="bg1"/>
                </a:solidFill>
                <a:latin typeface="KoPub돋움체_Pro Bold"/>
                <a:ea typeface="KoPub돋움체_Pro Bold"/>
              </a:rPr>
              <a:t>스토리지, 네트워크 인프라 등 다양한 서비스를 제공</a:t>
            </a:r>
            <a:endParaRPr lang="en-US" altLang="ko-KR" sz="2000">
              <a:solidFill>
                <a:schemeClr val="bg1"/>
              </a:solidFill>
              <a:ea typeface="KoPub돋움체_Pro Bold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808291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6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07704" y="1678903"/>
            <a:ext cx="4680520" cy="25421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3850" y="488487"/>
            <a:ext cx="5760640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2.2 AWS</a:t>
            </a:r>
            <a:r>
              <a:rPr lang="ko-KR" altLang="en-US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 글로벌 </a:t>
            </a:r>
            <a:r>
              <a:rPr lang="ko-KR" altLang="en-US" sz="3200" b="1" dirty="0" err="1">
                <a:solidFill>
                  <a:srgbClr val="0C2759"/>
                </a:solidFill>
                <a:latin typeface="a옛날목욕탕L"/>
                <a:ea typeface="a옛날목욕탕L"/>
              </a:rPr>
              <a:t>인프라맵</a:t>
            </a:r>
            <a:endParaRPr lang="ko-KR" altLang="en-US" sz="3200" b="1" dirty="0">
              <a:solidFill>
                <a:srgbClr val="0C2759"/>
              </a:solidFill>
              <a:latin typeface="a옛날목욕탕L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/>
          <p:cNvSpPr/>
          <p:nvPr/>
        </p:nvSpPr>
        <p:spPr>
          <a:xfrm>
            <a:off x="605508" y="1685660"/>
            <a:ext cx="6768751" cy="568360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1382" y="1797871"/>
            <a:ext cx="69127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000" dirty="0">
                <a:solidFill>
                  <a:schemeClr val="bg1"/>
                </a:solidFill>
                <a:latin typeface="KoPub돋움체_Pro Bold"/>
                <a:ea typeface="KoPub돋움체_Pro Bold"/>
              </a:rPr>
              <a:t>전 세계 </a:t>
            </a:r>
            <a:r>
              <a:rPr lang="en-US" altLang="ko-KR" sz="2000" dirty="0">
                <a:solidFill>
                  <a:schemeClr val="bg1"/>
                </a:solidFill>
                <a:latin typeface="KoPub돋움체_Pro Bold"/>
                <a:ea typeface="KoPub돋움체_Pro Bold"/>
              </a:rPr>
              <a:t>22</a:t>
            </a:r>
            <a:r>
              <a:rPr lang="ko-KR" altLang="en-US" sz="2000" dirty="0">
                <a:solidFill>
                  <a:schemeClr val="bg1"/>
                </a:solidFill>
                <a:latin typeface="KoPub돋움체_Pro Bold"/>
                <a:ea typeface="KoPub돋움체_Pro Bold"/>
              </a:rPr>
              <a:t>개의 지리적 </a:t>
            </a:r>
            <a:r>
              <a:rPr lang="ko-KR" altLang="en-US" sz="2000" dirty="0" err="1">
                <a:solidFill>
                  <a:schemeClr val="bg1"/>
                </a:solidFill>
                <a:latin typeface="KoPub돋움체_Pro Bold"/>
                <a:ea typeface="KoPub돋움체_Pro Bold"/>
              </a:rPr>
              <a:t>리전</a:t>
            </a:r>
            <a:r>
              <a:rPr lang="ko-KR" altLang="en-US" sz="2000" dirty="0">
                <a:solidFill>
                  <a:schemeClr val="bg1"/>
                </a:solidFill>
                <a:latin typeface="KoPub돋움체_Pro Bold"/>
                <a:ea typeface="KoPub돋움체_Pro Bold"/>
              </a:rPr>
              <a:t> 내에 </a:t>
            </a:r>
            <a:r>
              <a:rPr lang="en-US" altLang="ko-KR" sz="2000" dirty="0">
                <a:solidFill>
                  <a:schemeClr val="bg1"/>
                </a:solidFill>
                <a:latin typeface="KoPub돋움체_Pro Bold"/>
                <a:ea typeface="KoPub돋움체_Pro Bold"/>
              </a:rPr>
              <a:t>69</a:t>
            </a:r>
            <a:r>
              <a:rPr lang="ko-KR" altLang="en-US" sz="2000" dirty="0">
                <a:solidFill>
                  <a:schemeClr val="bg1"/>
                </a:solidFill>
                <a:latin typeface="KoPub돋움체_Pro Bold"/>
                <a:ea typeface="KoPub돋움체_Pro Bold"/>
              </a:rPr>
              <a:t>개의 가용 영역을 운영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pPr lvl="0">
                <a:defRPr/>
              </a:pPr>
              <a:t>7</a:t>
            </a:fld>
            <a:endParaRPr lang="en-US" altLang="en-US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</a:p>
        </p:txBody>
      </p:sp>
      <p:pic>
        <p:nvPicPr>
          <p:cNvPr id="3075" name="그림 307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3850" y="2357591"/>
            <a:ext cx="8496300" cy="4032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89049" y="467881"/>
            <a:ext cx="374441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3.1 AWS</a:t>
            </a:r>
            <a:r>
              <a:rPr lang="ko-KR" altLang="en-US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의 이점</a:t>
            </a: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AEDC0FA-7577-4E7B-B889-25A0EE2A3836}"/>
              </a:ext>
            </a:extLst>
          </p:cNvPr>
          <p:cNvSpPr/>
          <p:nvPr/>
        </p:nvSpPr>
        <p:spPr>
          <a:xfrm>
            <a:off x="683568" y="2116369"/>
            <a:ext cx="7149434" cy="581916"/>
          </a:xfrm>
          <a:prstGeom prst="roundRect">
            <a:avLst/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1C9768-D233-423E-8C9A-F91018AFBDB7}"/>
              </a:ext>
            </a:extLst>
          </p:cNvPr>
          <p:cNvSpPr txBox="1"/>
          <p:nvPr/>
        </p:nvSpPr>
        <p:spPr>
          <a:xfrm>
            <a:off x="782496" y="2205241"/>
            <a:ext cx="6861402" cy="404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- </a:t>
            </a:r>
            <a:r>
              <a:rPr lang="ko-KR" altLang="en-US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국제적 입지 </a:t>
            </a:r>
            <a:r>
              <a:rPr lang="en-US" altLang="ko-KR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: </a:t>
            </a:r>
            <a:r>
              <a:rPr lang="ko-KR" altLang="en-US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클라우드 업계 </a:t>
            </a:r>
            <a:r>
              <a:rPr lang="en-US" altLang="ko-KR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1</a:t>
            </a:r>
            <a:r>
              <a:rPr lang="ko-KR" altLang="en-US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위</a:t>
            </a:r>
            <a:r>
              <a:rPr lang="en-US" altLang="ko-KR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, 100</a:t>
            </a:r>
            <a:r>
              <a:rPr lang="ko-KR" altLang="en-US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만명 이상의 사용자</a:t>
            </a:r>
            <a:endParaRPr lang="en-US" altLang="ko-KR" sz="2000" dirty="0">
              <a:solidFill>
                <a:schemeClr val="bg1"/>
              </a:solidFill>
              <a:latin typeface="KoPub돋움체_Pro Bold" panose="00000800000000000000" pitchFamily="50" charset="-127"/>
              <a:ea typeface="KoPub돋움체_Pro Bold" panose="00000800000000000000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828922A-C5EC-49C0-857F-C8C71A1C6815}"/>
              </a:ext>
            </a:extLst>
          </p:cNvPr>
          <p:cNvSpPr/>
          <p:nvPr/>
        </p:nvSpPr>
        <p:spPr>
          <a:xfrm>
            <a:off x="692490" y="5309630"/>
            <a:ext cx="7149434" cy="581916"/>
          </a:xfrm>
          <a:prstGeom prst="roundRect">
            <a:avLst/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A927B1-32BF-48D7-83DB-6E04664A33C6}"/>
              </a:ext>
            </a:extLst>
          </p:cNvPr>
          <p:cNvSpPr txBox="1"/>
          <p:nvPr/>
        </p:nvSpPr>
        <p:spPr>
          <a:xfrm>
            <a:off x="782496" y="5412023"/>
            <a:ext cx="6861402" cy="404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-  </a:t>
            </a:r>
            <a:r>
              <a:rPr lang="ko-KR" altLang="en-US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보안 </a:t>
            </a:r>
            <a:r>
              <a:rPr lang="en-US" altLang="ko-KR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: Public Cloud</a:t>
            </a:r>
            <a:r>
              <a:rPr lang="ko-KR" altLang="en-US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의 약점인 보안 강화</a:t>
            </a:r>
            <a:endParaRPr lang="en-US" altLang="ko-KR" sz="2000" dirty="0">
              <a:solidFill>
                <a:schemeClr val="bg1"/>
              </a:solidFill>
              <a:latin typeface="KoPub돋움체_Pro Bold" panose="00000800000000000000" pitchFamily="50" charset="-127"/>
              <a:ea typeface="KoPub돋움체_Pro Bold" panose="00000800000000000000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5D510BB-79E0-4F49-ADF8-72C23E6C55AE}"/>
              </a:ext>
            </a:extLst>
          </p:cNvPr>
          <p:cNvSpPr/>
          <p:nvPr/>
        </p:nvSpPr>
        <p:spPr>
          <a:xfrm>
            <a:off x="692490" y="3200432"/>
            <a:ext cx="7149434" cy="581916"/>
          </a:xfrm>
          <a:prstGeom prst="roundRect">
            <a:avLst/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8E556C-83F8-4CD3-924A-91B04C9F295F}"/>
              </a:ext>
            </a:extLst>
          </p:cNvPr>
          <p:cNvSpPr txBox="1"/>
          <p:nvPr/>
        </p:nvSpPr>
        <p:spPr>
          <a:xfrm>
            <a:off x="782496" y="3290490"/>
            <a:ext cx="7508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-  </a:t>
            </a:r>
            <a:r>
              <a:rPr lang="ko-KR" altLang="en-US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가용성 </a:t>
            </a:r>
            <a:r>
              <a:rPr lang="en-US" altLang="ko-KR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: </a:t>
            </a:r>
            <a:r>
              <a:rPr lang="ko-KR" altLang="en-US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클라우드 공급업체 중 가장 뛰어난 네트워크 가용성</a:t>
            </a:r>
            <a:endParaRPr lang="en-US" altLang="ko-KR" sz="2000" dirty="0">
              <a:solidFill>
                <a:schemeClr val="bg1"/>
              </a:solidFill>
              <a:latin typeface="KoPub돋움체_Pro Bold" panose="00000800000000000000" pitchFamily="50" charset="-127"/>
              <a:ea typeface="KoPub돋움체_Pro Bold" panose="00000800000000000000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70AA5FB-2418-448E-BAEE-45F999EB496D}"/>
              </a:ext>
            </a:extLst>
          </p:cNvPr>
          <p:cNvSpPr/>
          <p:nvPr/>
        </p:nvSpPr>
        <p:spPr>
          <a:xfrm>
            <a:off x="683568" y="4283808"/>
            <a:ext cx="7158356" cy="581916"/>
          </a:xfrm>
          <a:prstGeom prst="roundRect">
            <a:avLst/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A44ADB-FEDF-438F-A32B-03C537974258}"/>
              </a:ext>
            </a:extLst>
          </p:cNvPr>
          <p:cNvSpPr txBox="1"/>
          <p:nvPr/>
        </p:nvSpPr>
        <p:spPr>
          <a:xfrm>
            <a:off x="782495" y="4374711"/>
            <a:ext cx="7508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-  </a:t>
            </a:r>
            <a:r>
              <a:rPr lang="ko-KR" altLang="en-US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성능 </a:t>
            </a:r>
            <a:r>
              <a:rPr lang="en-US" altLang="ko-KR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: </a:t>
            </a:r>
            <a:r>
              <a:rPr lang="ko-KR" altLang="en-US" sz="2000" dirty="0">
                <a:solidFill>
                  <a:schemeClr val="bg1"/>
                </a:solidFill>
                <a:latin typeface="KoPub돋움체_Pro Bold" panose="00000800000000000000" pitchFamily="50" charset="-127"/>
                <a:ea typeface="KoPub돋움체_Pro Bold" panose="00000800000000000000" pitchFamily="50" charset="-127"/>
              </a:rPr>
              <a:t>사용자에 따라 필요한 서버를 몇 분 안에 증설 가능 </a:t>
            </a:r>
            <a:endParaRPr lang="en-US" altLang="ko-KR" sz="2000" dirty="0">
              <a:solidFill>
                <a:schemeClr val="bg1"/>
              </a:solidFill>
              <a:latin typeface="KoPub돋움체_Pro Bold" panose="00000800000000000000" pitchFamily="50" charset="-127"/>
              <a:ea typeface="KoPub돋움체_Pro Bold" panose="00000800000000000000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그림 307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9656" y="1745209"/>
            <a:ext cx="8344687" cy="4464495"/>
          </a:xfrm>
          <a:prstGeom prst="rect">
            <a:avLst/>
          </a:prstGeom>
        </p:spPr>
      </p:pic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1266" y="455630"/>
            <a:ext cx="5760640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3.2 AWS </a:t>
            </a:r>
            <a:r>
              <a:rPr lang="ko-KR" altLang="en-US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이용 기업들</a:t>
            </a: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pPr lvl="0">
                <a:defRPr/>
              </a:pPr>
              <a:t>9</a:t>
            </a:fld>
            <a:endParaRPr lang="en-US" altLang="en-US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그림 307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57808" y="1656194"/>
            <a:ext cx="8028384" cy="4229616"/>
          </a:xfrm>
          <a:prstGeom prst="rect">
            <a:avLst/>
          </a:prstGeom>
        </p:spPr>
      </p:pic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5789" y="535710"/>
            <a:ext cx="5760640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3.3 AWS </a:t>
            </a:r>
            <a:r>
              <a:rPr lang="ko-KR" altLang="en-US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보안 공유 모델</a:t>
            </a: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01554" y="1396824"/>
            <a:ext cx="6912768" cy="696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>
                <a:solidFill>
                  <a:schemeClr val="bg1"/>
                </a:solidFill>
                <a:latin typeface="KoPub돋움체_Pro Bold"/>
                <a:ea typeface="KoPub돋움체_Pro Bold"/>
              </a:rPr>
              <a:t>AWS</a:t>
            </a:r>
            <a:r>
              <a:rPr lang="ko-KR" altLang="en-US" sz="2000">
                <a:solidFill>
                  <a:schemeClr val="bg1"/>
                </a:solidFill>
                <a:latin typeface="KoPub돋움체_Pro Bold"/>
                <a:ea typeface="KoPub돋움체_Pro Bold"/>
              </a:rPr>
              <a:t>는 전 세계 </a:t>
            </a:r>
            <a:r>
              <a:rPr lang="en-US" altLang="ko-KR" sz="2000">
                <a:solidFill>
                  <a:schemeClr val="bg1"/>
                </a:solidFill>
                <a:latin typeface="KoPub돋움체_Pro Bold"/>
                <a:ea typeface="KoPub돋움체_Pro Bold"/>
              </a:rPr>
              <a:t>22</a:t>
            </a:r>
            <a:r>
              <a:rPr lang="ko-KR" altLang="en-US" sz="2000">
                <a:solidFill>
                  <a:schemeClr val="bg1"/>
                </a:solidFill>
                <a:latin typeface="KoPub돋움체_Pro Bold"/>
                <a:ea typeface="KoPub돋움체_Pro Bold"/>
              </a:rPr>
              <a:t>개의 지리적 리전 내에 </a:t>
            </a:r>
            <a:r>
              <a:rPr lang="en-US" altLang="ko-KR" sz="2000">
                <a:solidFill>
                  <a:schemeClr val="bg1"/>
                </a:solidFill>
                <a:latin typeface="KoPub돋움체_Pro Bold"/>
                <a:ea typeface="KoPub돋움체_Pro Bold"/>
              </a:rPr>
              <a:t>69</a:t>
            </a:r>
            <a:r>
              <a:rPr lang="ko-KR" altLang="en-US" sz="2000">
                <a:solidFill>
                  <a:schemeClr val="bg1"/>
                </a:solidFill>
                <a:latin typeface="KoPub돋움체_Pro Bold"/>
                <a:ea typeface="KoPub돋움체_Pro Bold"/>
              </a:rPr>
              <a:t>개의 가용 영역을 운영하고있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pPr lvl="0">
                <a:defRPr/>
              </a:pPr>
              <a:t>10</a:t>
            </a:fld>
            <a:endParaRPr lang="en-US" altLang="en-US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9" name="그림 307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4798" y="1666524"/>
            <a:ext cx="8068897" cy="4215163"/>
          </a:xfrm>
          <a:prstGeom prst="rect">
            <a:avLst/>
          </a:prstGeom>
        </p:spPr>
      </p:pic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7544" y="533453"/>
            <a:ext cx="5760640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3.4 AWS</a:t>
            </a:r>
            <a:r>
              <a:rPr lang="ko-KR" altLang="en-US" sz="3200" b="1" dirty="0">
                <a:solidFill>
                  <a:srgbClr val="0C2759"/>
                </a:solidFill>
                <a:latin typeface="a옛날목욕탕L"/>
                <a:ea typeface="a옛날목욕탕L"/>
              </a:rPr>
              <a:t> 서비스 포트폴리오</a:t>
            </a: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520259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pPr lvl="0">
                <a:defRPr/>
              </a:pPr>
              <a:t>11</a:t>
            </a:fld>
            <a:endParaRPr lang="en-US" altLang="en-US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/>
          <p:cNvCxnSpPr/>
          <p:nvPr/>
        </p:nvCxnSpPr>
        <p:spPr>
          <a:xfrm>
            <a:off x="2512343" y="620688"/>
            <a:ext cx="352839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68887" y="6534835"/>
            <a:ext cx="4111625" cy="540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/>
                </a:solidFill>
                <a:latin typeface="KoPub돋움체_Pro Bold"/>
                <a:ea typeface="KoPub돋움체_Pro Bold"/>
              </a:rPr>
              <a:t>충북대학교 소프트웨어중심사업단 오픈소스</a:t>
            </a:r>
            <a:r>
              <a:rPr lang="en-US" altLang="ko-KR" sz="1500">
                <a:solidFill>
                  <a:schemeClr val="bg1"/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/>
                </a:solidFill>
                <a:latin typeface="KoPub돋움체_Pro Bold"/>
                <a:ea typeface="KoPub돋움체_Pro Bold"/>
              </a:rPr>
              <a:t>센터 </a:t>
            </a:r>
          </a:p>
        </p:txBody>
      </p:sp>
      <p:sp>
        <p:nvSpPr>
          <p:cNvPr id="20" name="사각형: 둥근 모서리 19"/>
          <p:cNvSpPr/>
          <p:nvPr/>
        </p:nvSpPr>
        <p:spPr>
          <a:xfrm>
            <a:off x="323528" y="188640"/>
            <a:ext cx="8496944" cy="6346195"/>
          </a:xfrm>
          <a:prstGeom prst="roundRect">
            <a:avLst>
              <a:gd name="adj" fmla="val 16667"/>
            </a:avLst>
          </a:prstGeom>
          <a:noFill/>
          <a:ln>
            <a:solidFill>
              <a:srgbClr val="90400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286000" y="1628800"/>
            <a:ext cx="4572000" cy="32535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045" y="489739"/>
            <a:ext cx="6291187" cy="5751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4 AWS 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시작하기 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(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회원가입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)</a:t>
            </a:r>
            <a:endParaRPr lang="en-US" altLang="ko-KR" sz="3200" b="1">
              <a:solidFill>
                <a:srgbClr val="0c2759"/>
              </a:solidFill>
              <a:latin typeface="+mj-lt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808291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13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pic>
        <p:nvPicPr>
          <p:cNvPr id="10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539808" y="1520722"/>
            <a:ext cx="6344559" cy="4788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045" y="489739"/>
            <a:ext cx="5931147" cy="5751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4 AWS 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시작하기 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(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회원가입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)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</a:t>
            </a:r>
            <a:endParaRPr lang="ko-KR" altLang="en-US" sz="3200" b="1">
              <a:solidFill>
                <a:srgbClr val="0c2759"/>
              </a:solidFill>
              <a:latin typeface="+mj-lt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808291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14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pic>
        <p:nvPicPr>
          <p:cNvPr id="108" name=""/>
          <p:cNvPicPr>
            <a:picLocks noChangeAspect="1"/>
          </p:cNvPicPr>
          <p:nvPr/>
        </p:nvPicPr>
        <p:blipFill rotWithShape="1">
          <a:blip r:embed="rId3"/>
          <a:srcRect t="6940" r="780" b="1390"/>
          <a:stretch>
            <a:fillRect/>
          </a:stretch>
        </p:blipFill>
        <p:spPr>
          <a:xfrm>
            <a:off x="1709336" y="1520598"/>
            <a:ext cx="5725327" cy="47887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045" y="489739"/>
            <a:ext cx="5931147" cy="5751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4 AWS 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시작하기 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(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회원가입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)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</a:t>
            </a:r>
            <a:endParaRPr lang="ko-KR" altLang="en-US" sz="3200" b="1">
              <a:solidFill>
                <a:srgbClr val="0c2759"/>
              </a:solidFill>
              <a:latin typeface="+mj-lt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808291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15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pic>
        <p:nvPicPr>
          <p:cNvPr id="10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67544" y="1556792"/>
            <a:ext cx="3672408" cy="4788598"/>
          </a:xfrm>
          <a:prstGeom prst="rect">
            <a:avLst/>
          </a:prstGeom>
        </p:spPr>
      </p:pic>
      <p:pic>
        <p:nvPicPr>
          <p:cNvPr id="108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932040" y="1556792"/>
            <a:ext cx="3816424" cy="4824536"/>
          </a:xfrm>
          <a:prstGeom prst="rect">
            <a:avLst/>
          </a:prstGeom>
        </p:spPr>
      </p:pic>
      <p:sp>
        <p:nvSpPr>
          <p:cNvPr id="109" name=""/>
          <p:cNvSpPr/>
          <p:nvPr/>
        </p:nvSpPr>
        <p:spPr>
          <a:xfrm>
            <a:off x="4283968" y="3212976"/>
            <a:ext cx="576064" cy="100811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045" y="489739"/>
            <a:ext cx="5931147" cy="5751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4 AWS 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시작하기 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(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회원가입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)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</a:t>
            </a:r>
            <a:endParaRPr lang="ko-KR" altLang="en-US" sz="3200" b="1">
              <a:solidFill>
                <a:srgbClr val="0c2759"/>
              </a:solidFill>
              <a:latin typeface="+mj-lt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78172" y="4532708"/>
            <a:ext cx="6552728" cy="1370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 b="1">
                <a:solidFill>
                  <a:schemeClr val="bg1"/>
                </a:solidFill>
                <a:ea typeface="KoPub돋움체_Pro Bold"/>
              </a:rPr>
              <a:t>Amazon Web Service</a:t>
            </a:r>
            <a:endParaRPr lang="en-US" altLang="ko-KR" sz="2400" b="1">
              <a:solidFill>
                <a:schemeClr val="bg1"/>
              </a:solidFill>
              <a:ea typeface="KoPub돋움체_Pro Bold"/>
            </a:endParaRPr>
          </a:p>
          <a:p>
            <a:pPr lvl="0">
              <a:defRPr/>
            </a:pPr>
            <a:endParaRPr lang="en-US" altLang="ko-KR" sz="2000">
              <a:solidFill>
                <a:schemeClr val="bg1"/>
              </a:solidFill>
              <a:ea typeface="KoPub돋움체_Pro Bold"/>
            </a:endParaRPr>
          </a:p>
          <a:p>
            <a:pPr lvl="0">
              <a:defRPr/>
            </a:pPr>
            <a:r>
              <a:rPr lang="ko-KR" altLang="en-US" sz="2000">
                <a:solidFill>
                  <a:schemeClr val="bg1"/>
                </a:solidFill>
                <a:latin typeface="KoPub돋움체_Pro Bold"/>
                <a:ea typeface="KoPub돋움체_Pro Bold"/>
              </a:rPr>
              <a:t>Amazon에서 제공하는 클라우드 서비스로, 서버</a:t>
            </a:r>
            <a:r>
              <a:rPr lang="en-US" altLang="ko-KR" sz="2000">
                <a:solidFill>
                  <a:schemeClr val="bg1"/>
                </a:solidFill>
                <a:latin typeface="KoPub돋움체_Pro Bold"/>
                <a:ea typeface="KoPub돋움체_Pro Bold"/>
              </a:rPr>
              <a:t>, </a:t>
            </a:r>
            <a:r>
              <a:rPr lang="ko-KR" altLang="en-US" sz="2000">
                <a:solidFill>
                  <a:schemeClr val="bg1"/>
                </a:solidFill>
                <a:latin typeface="KoPub돋움체_Pro Bold"/>
                <a:ea typeface="KoPub돋움체_Pro Bold"/>
              </a:rPr>
              <a:t>스토리지, 네트워크 인프라 등 다양한 서비스를 제공</a:t>
            </a:r>
            <a:endParaRPr lang="en-US" altLang="ko-KR" sz="2000">
              <a:solidFill>
                <a:schemeClr val="bg1"/>
              </a:solidFill>
              <a:ea typeface="KoPub돋움체_Pro Bold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808291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16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pic>
        <p:nvPicPr>
          <p:cNvPr id="10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42120" y="1484784"/>
            <a:ext cx="5410200" cy="5040560"/>
          </a:xfrm>
          <a:prstGeom prst="rect">
            <a:avLst/>
          </a:prstGeom>
        </p:spPr>
      </p:pic>
      <p:sp>
        <p:nvSpPr>
          <p:cNvPr id="108" name=""/>
          <p:cNvSpPr/>
          <p:nvPr/>
        </p:nvSpPr>
        <p:spPr>
          <a:xfrm>
            <a:off x="2627784" y="3429000"/>
            <a:ext cx="1440160" cy="57606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045" y="489739"/>
            <a:ext cx="5931147" cy="5751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4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AWS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시작하기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 (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로그인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)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</a:t>
            </a:r>
            <a:endParaRPr lang="ko-KR" altLang="en-US" sz="3200" b="1">
              <a:solidFill>
                <a:srgbClr val="0c2759"/>
              </a:solidFill>
              <a:latin typeface="+mj-lt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808291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17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pic>
        <p:nvPicPr>
          <p:cNvPr id="10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3528" y="2698487"/>
            <a:ext cx="7559823" cy="1461024"/>
          </a:xfrm>
          <a:prstGeom prst="rect">
            <a:avLst/>
          </a:prstGeom>
        </p:spPr>
      </p:pic>
      <p:sp>
        <p:nvSpPr>
          <p:cNvPr id="113" name=""/>
          <p:cNvSpPr/>
          <p:nvPr/>
        </p:nvSpPr>
        <p:spPr>
          <a:xfrm>
            <a:off x="5364088" y="2852936"/>
            <a:ext cx="2592288" cy="3600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045" y="489739"/>
            <a:ext cx="5931147" cy="5751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5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EC2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사용하기</a:t>
            </a:r>
            <a:endParaRPr lang="ko-KR" altLang="en-US" sz="3200" b="1">
              <a:solidFill>
                <a:srgbClr val="0c2759"/>
              </a:solidFill>
              <a:latin typeface="+mj-lt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808291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18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pic>
        <p:nvPicPr>
          <p:cNvPr id="11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27695" y="1368151"/>
            <a:ext cx="3324225" cy="5157192"/>
          </a:xfrm>
          <a:prstGeom prst="rect">
            <a:avLst/>
          </a:prstGeom>
        </p:spPr>
      </p:pic>
      <p:sp>
        <p:nvSpPr>
          <p:cNvPr id="114" name="사각형: 둥근 모서리 7"/>
          <p:cNvSpPr/>
          <p:nvPr/>
        </p:nvSpPr>
        <p:spPr>
          <a:xfrm>
            <a:off x="4932040" y="3068960"/>
            <a:ext cx="3240360" cy="864096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latin typeface="a옛날목욕탕L"/>
                <a:ea typeface="a옛날목욕탕L"/>
              </a:rPr>
              <a:t>리전 선택</a:t>
            </a:r>
            <a:r>
              <a:rPr lang="en-US" altLang="ko-KR">
                <a:latin typeface="a옛날목욕탕L"/>
                <a:ea typeface="a옛날목욕탕L"/>
              </a:rPr>
              <a:t>(</a:t>
            </a:r>
            <a:r>
              <a:rPr lang="ko-KR" altLang="en-US">
                <a:latin typeface="a옛날목욕탕L"/>
                <a:ea typeface="a옛날목욕탕L"/>
              </a:rPr>
              <a:t>서울</a:t>
            </a:r>
            <a:r>
              <a:rPr lang="en-US" altLang="ko-KR">
                <a:latin typeface="a옛날목욕탕L"/>
                <a:ea typeface="a옛날목욕탕L"/>
              </a:rPr>
              <a:t>)</a:t>
            </a:r>
            <a:endParaRPr lang="en-US" altLang="ko-KR">
              <a:latin typeface="a옛날목욕탕L"/>
              <a:ea typeface="a옛날목욕탕L"/>
            </a:endParaRPr>
          </a:p>
        </p:txBody>
      </p:sp>
      <p:sp>
        <p:nvSpPr>
          <p:cNvPr id="118" name=""/>
          <p:cNvSpPr/>
          <p:nvPr/>
        </p:nvSpPr>
        <p:spPr>
          <a:xfrm>
            <a:off x="683568" y="3140968"/>
            <a:ext cx="2088232" cy="288032"/>
          </a:xfrm>
          <a:prstGeom prst="borderCallout1">
            <a:avLst>
              <a:gd name="adj1" fmla="val 117053"/>
              <a:gd name="adj2" fmla="val 201587"/>
              <a:gd name="adj3" fmla="val 51056"/>
              <a:gd name="adj4" fmla="val 98885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045" y="489739"/>
            <a:ext cx="5931147" cy="5751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5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EC2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사용하기</a:t>
            </a:r>
            <a:endParaRPr lang="ko-KR" altLang="en-US" sz="3200" b="1">
              <a:solidFill>
                <a:srgbClr val="0c2759"/>
              </a:solidFill>
              <a:latin typeface="+mj-lt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808291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19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pic>
        <p:nvPicPr>
          <p:cNvPr id="119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9511" y="1434447"/>
            <a:ext cx="8496944" cy="4586840"/>
          </a:xfrm>
          <a:prstGeom prst="rect">
            <a:avLst/>
          </a:prstGeom>
        </p:spPr>
      </p:pic>
      <p:sp>
        <p:nvSpPr>
          <p:cNvPr id="120" name=""/>
          <p:cNvSpPr/>
          <p:nvPr/>
        </p:nvSpPr>
        <p:spPr>
          <a:xfrm>
            <a:off x="1835696" y="2636912"/>
            <a:ext cx="432048" cy="21602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1" name=""/>
          <p:cNvSpPr/>
          <p:nvPr/>
        </p:nvSpPr>
        <p:spPr>
          <a:xfrm>
            <a:off x="899592" y="1412776"/>
            <a:ext cx="576064" cy="3600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045" y="489739"/>
            <a:ext cx="5931147" cy="5751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5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EC2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사용하기</a:t>
            </a:r>
            <a:endParaRPr lang="ko-KR" altLang="en-US" sz="3200" b="1">
              <a:solidFill>
                <a:srgbClr val="0c2759"/>
              </a:solidFill>
              <a:latin typeface="+mj-lt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808291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20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pic>
        <p:nvPicPr>
          <p:cNvPr id="12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73968" y="1412776"/>
            <a:ext cx="7010400" cy="5137026"/>
          </a:xfrm>
          <a:prstGeom prst="rect">
            <a:avLst/>
          </a:prstGeom>
        </p:spPr>
      </p:pic>
      <p:sp>
        <p:nvSpPr>
          <p:cNvPr id="123" name=""/>
          <p:cNvSpPr/>
          <p:nvPr/>
        </p:nvSpPr>
        <p:spPr>
          <a:xfrm>
            <a:off x="971600" y="5733256"/>
            <a:ext cx="1440160" cy="3600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045" y="489739"/>
            <a:ext cx="6723235" cy="5751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5 EC2 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인스턴스 생성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(1)</a:t>
            </a:r>
            <a:endParaRPr lang="en-US" altLang="ko-KR" sz="3200" b="1">
              <a:solidFill>
                <a:srgbClr val="0c2759"/>
              </a:solidFill>
              <a:latin typeface="+mj-lt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0" y="1412776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808291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21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pic>
        <p:nvPicPr>
          <p:cNvPr id="11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9512" y="2348880"/>
            <a:ext cx="8784976" cy="3816424"/>
          </a:xfrm>
          <a:prstGeom prst="rect">
            <a:avLst/>
          </a:prstGeom>
        </p:spPr>
      </p:pic>
      <p:sp>
        <p:nvSpPr>
          <p:cNvPr id="112" name=""/>
          <p:cNvSpPr/>
          <p:nvPr/>
        </p:nvSpPr>
        <p:spPr>
          <a:xfrm>
            <a:off x="251519" y="4293096"/>
            <a:ext cx="8640960" cy="86409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3" name="사각형: 둥근 모서리 7"/>
          <p:cNvSpPr/>
          <p:nvPr/>
        </p:nvSpPr>
        <p:spPr>
          <a:xfrm>
            <a:off x="1475656" y="1556792"/>
            <a:ext cx="5796644" cy="504055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latin typeface="a옛날목욕탕L"/>
                <a:ea typeface="a옛날목욕탕L"/>
              </a:rPr>
              <a:t>단계</a:t>
            </a:r>
            <a:r>
              <a:rPr lang="en-US" altLang="ko-KR">
                <a:latin typeface="a옛날목욕탕L"/>
                <a:ea typeface="a옛날목욕탕L"/>
              </a:rPr>
              <a:t>1: </a:t>
            </a:r>
            <a:r>
              <a:rPr lang="ko-KR" altLang="en-US">
                <a:latin typeface="a옛날목욕탕L"/>
                <a:ea typeface="a옛날목욕탕L"/>
              </a:rPr>
              <a:t>가상머신 선택</a:t>
            </a:r>
            <a:r>
              <a:rPr lang="en-US" altLang="ko-KR">
                <a:latin typeface="a옛날목욕탕L"/>
                <a:ea typeface="a옛날목욕탕L"/>
              </a:rPr>
              <a:t>(AMI, Amazone Machine Image)</a:t>
            </a:r>
            <a:endParaRPr lang="en-US" altLang="ko-KR">
              <a:latin typeface="a옛날목욕탕L"/>
              <a:ea typeface="a옛날목욕탕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043" y="489739"/>
            <a:ext cx="7587333" cy="5751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5 EC2 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인스턴스 생성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(2)</a:t>
            </a:r>
            <a:endParaRPr lang="en-US" altLang="ko-KR" sz="3200" b="1">
              <a:solidFill>
                <a:srgbClr val="0c2759"/>
              </a:solidFill>
              <a:latin typeface="+mj-lt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808291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22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pic>
        <p:nvPicPr>
          <p:cNvPr id="11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9511" y="2276872"/>
            <a:ext cx="8784976" cy="4007588"/>
          </a:xfrm>
          <a:prstGeom prst="rect">
            <a:avLst/>
          </a:prstGeom>
        </p:spPr>
      </p:pic>
      <p:sp>
        <p:nvSpPr>
          <p:cNvPr id="113" name="사각형: 둥근 모서리 7"/>
          <p:cNvSpPr/>
          <p:nvPr/>
        </p:nvSpPr>
        <p:spPr>
          <a:xfrm>
            <a:off x="1475656" y="1556792"/>
            <a:ext cx="5796644" cy="504055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latin typeface="a옛날목욕탕L"/>
                <a:ea typeface="a옛날목욕탕L"/>
              </a:rPr>
              <a:t>단계</a:t>
            </a:r>
            <a:r>
              <a:rPr lang="en-US" altLang="ko-KR">
                <a:latin typeface="a옛날목욕탕L"/>
                <a:ea typeface="a옛날목욕탕L"/>
              </a:rPr>
              <a:t>2:</a:t>
            </a:r>
            <a:r>
              <a:rPr lang="ko-KR" altLang="en-US">
                <a:latin typeface="a옛날목욕탕L"/>
                <a:ea typeface="a옛날목욕탕L"/>
              </a:rPr>
              <a:t> 인스턴스 타입 선택 </a:t>
            </a:r>
            <a:endParaRPr lang="en-US" altLang="ko-KR">
              <a:latin typeface="a옛날목욕탕L"/>
              <a:ea typeface="a옛날목욕탕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045" y="489739"/>
            <a:ext cx="8774955" cy="5751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5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EC2 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인스턴스 생성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(3)</a:t>
            </a:r>
            <a:endParaRPr lang="ko-KR" altLang="en-US" sz="3200" b="1">
              <a:solidFill>
                <a:srgbClr val="0c2759"/>
              </a:solidFill>
              <a:latin typeface="+mj-lt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78172" y="4532708"/>
            <a:ext cx="6552728" cy="1370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 b="1">
                <a:solidFill>
                  <a:schemeClr val="bg1"/>
                </a:solidFill>
                <a:ea typeface="KoPub돋움체_Pro Bold"/>
              </a:rPr>
              <a:t>Amazon Web Service</a:t>
            </a:r>
            <a:endParaRPr lang="en-US" altLang="ko-KR" sz="2400" b="1">
              <a:solidFill>
                <a:schemeClr val="bg1"/>
              </a:solidFill>
              <a:ea typeface="KoPub돋움체_Pro Bold"/>
            </a:endParaRPr>
          </a:p>
          <a:p>
            <a:pPr lvl="0">
              <a:defRPr/>
            </a:pPr>
            <a:endParaRPr lang="en-US" altLang="ko-KR" sz="2000">
              <a:solidFill>
                <a:schemeClr val="bg1"/>
              </a:solidFill>
              <a:ea typeface="KoPub돋움체_Pro Bold"/>
            </a:endParaRPr>
          </a:p>
          <a:p>
            <a:pPr lvl="0">
              <a:defRPr/>
            </a:pPr>
            <a:r>
              <a:rPr lang="ko-KR" altLang="en-US" sz="2000">
                <a:solidFill>
                  <a:schemeClr val="bg1"/>
                </a:solidFill>
                <a:latin typeface="KoPub돋움체_Pro Bold"/>
                <a:ea typeface="KoPub돋움체_Pro Bold"/>
              </a:rPr>
              <a:t>Amazon에서 제공하는 클라우드 서비스로, 서버</a:t>
            </a:r>
            <a:r>
              <a:rPr lang="en-US" altLang="ko-KR" sz="2000">
                <a:solidFill>
                  <a:schemeClr val="bg1"/>
                </a:solidFill>
                <a:latin typeface="KoPub돋움체_Pro Bold"/>
                <a:ea typeface="KoPub돋움체_Pro Bold"/>
              </a:rPr>
              <a:t>, </a:t>
            </a:r>
            <a:r>
              <a:rPr lang="ko-KR" altLang="en-US" sz="2000">
                <a:solidFill>
                  <a:schemeClr val="bg1"/>
                </a:solidFill>
                <a:latin typeface="KoPub돋움체_Pro Bold"/>
                <a:ea typeface="KoPub돋움체_Pro Bold"/>
              </a:rPr>
              <a:t>스토리지, 네트워크 인프라 등 다양한 서비스를 제공</a:t>
            </a:r>
            <a:endParaRPr lang="en-US" altLang="ko-KR" sz="2000">
              <a:solidFill>
                <a:schemeClr val="bg1"/>
              </a:solidFill>
              <a:ea typeface="KoPub돋움체_Pro Bold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808291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23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pic>
        <p:nvPicPr>
          <p:cNvPr id="11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66813" y="2564904"/>
            <a:ext cx="6810374" cy="3826768"/>
          </a:xfrm>
          <a:prstGeom prst="rect">
            <a:avLst/>
          </a:prstGeom>
        </p:spPr>
      </p:pic>
      <p:sp>
        <p:nvSpPr>
          <p:cNvPr id="112" name="사각형: 둥근 모서리 7"/>
          <p:cNvSpPr/>
          <p:nvPr/>
        </p:nvSpPr>
        <p:spPr>
          <a:xfrm>
            <a:off x="1475656" y="1556792"/>
            <a:ext cx="5796644" cy="504055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latin typeface="a옛날목욕탕L"/>
                <a:ea typeface="a옛날목욕탕L"/>
              </a:rPr>
              <a:t>단계</a:t>
            </a:r>
            <a:r>
              <a:rPr lang="en-US" altLang="ko-KR">
                <a:latin typeface="a옛날목욕탕L"/>
                <a:ea typeface="a옛날목욕탕L"/>
              </a:rPr>
              <a:t>3: </a:t>
            </a:r>
            <a:r>
              <a:rPr lang="ko-KR" altLang="en-US">
                <a:latin typeface="a옛날목욕탕L"/>
                <a:ea typeface="a옛날목욕탕L"/>
              </a:rPr>
              <a:t>인스턴스 세부 환경 설정</a:t>
            </a:r>
            <a:endParaRPr lang="ko-KR" altLang="en-US">
              <a:latin typeface="a옛날목욕탕L"/>
              <a:ea typeface="a옛날목욕탕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045" y="489739"/>
            <a:ext cx="5931147" cy="5751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5 EC2 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인스턴스 생성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(4)</a:t>
            </a:r>
            <a:endParaRPr lang="en-US" altLang="ko-KR" sz="3200" b="1">
              <a:solidFill>
                <a:srgbClr val="0c2759"/>
              </a:solidFill>
              <a:latin typeface="+mj-lt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808291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24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pic>
        <p:nvPicPr>
          <p:cNvPr id="11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504" y="2306238"/>
            <a:ext cx="8856984" cy="3427018"/>
          </a:xfrm>
          <a:prstGeom prst="rect">
            <a:avLst/>
          </a:prstGeom>
        </p:spPr>
      </p:pic>
      <p:sp>
        <p:nvSpPr>
          <p:cNvPr id="113" name="사각형: 둥근 모서리 7"/>
          <p:cNvSpPr/>
          <p:nvPr/>
        </p:nvSpPr>
        <p:spPr>
          <a:xfrm>
            <a:off x="1475656" y="1556792"/>
            <a:ext cx="5796644" cy="504055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latin typeface="a옛날목욕탕L"/>
                <a:ea typeface="a옛날목욕탕L"/>
              </a:rPr>
              <a:t>단계</a:t>
            </a:r>
            <a:r>
              <a:rPr lang="en-US" altLang="ko-KR">
                <a:latin typeface="a옛날목욕탕L"/>
                <a:ea typeface="a옛날목욕탕L"/>
              </a:rPr>
              <a:t>4:</a:t>
            </a:r>
            <a:r>
              <a:rPr lang="ko-KR" altLang="en-US">
                <a:latin typeface="a옛날목욕탕L"/>
                <a:ea typeface="a옛날목욕탕L"/>
              </a:rPr>
              <a:t> 스토리지 추가하기</a:t>
            </a:r>
            <a:endParaRPr lang="ko-KR" altLang="en-US">
              <a:latin typeface="a옛날목욕탕L"/>
              <a:ea typeface="a옛날목욕탕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045" y="489739"/>
            <a:ext cx="5931147" cy="5751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5 EC2 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인스턴스 생성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(5)</a:t>
            </a:r>
            <a:endParaRPr lang="en-US" altLang="ko-KR" sz="3200" b="1">
              <a:solidFill>
                <a:srgbClr val="0c2759"/>
              </a:solidFill>
              <a:latin typeface="+mj-lt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808291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25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pic>
        <p:nvPicPr>
          <p:cNvPr id="11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9512" y="2564904"/>
            <a:ext cx="8784976" cy="3168352"/>
          </a:xfrm>
          <a:prstGeom prst="rect">
            <a:avLst/>
          </a:prstGeom>
        </p:spPr>
      </p:pic>
      <p:sp>
        <p:nvSpPr>
          <p:cNvPr id="112" name="사각형: 둥근 모서리 7"/>
          <p:cNvSpPr/>
          <p:nvPr/>
        </p:nvSpPr>
        <p:spPr>
          <a:xfrm>
            <a:off x="1475656" y="1556792"/>
            <a:ext cx="5796644" cy="504055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latin typeface="a옛날목욕탕L"/>
                <a:ea typeface="a옛날목욕탕L"/>
              </a:rPr>
              <a:t>단계</a:t>
            </a:r>
            <a:r>
              <a:rPr lang="en-US" altLang="ko-KR">
                <a:latin typeface="a옛날목욕탕L"/>
                <a:ea typeface="a옛날목욕탕L"/>
              </a:rPr>
              <a:t>5:</a:t>
            </a:r>
            <a:r>
              <a:rPr lang="ko-KR" altLang="en-US">
                <a:latin typeface="a옛날목욕탕L"/>
                <a:ea typeface="a옛날목욕탕L"/>
              </a:rPr>
              <a:t> 태그 추가하기</a:t>
            </a:r>
            <a:endParaRPr lang="ko-KR" altLang="en-US">
              <a:latin typeface="a옛날목욕탕L"/>
              <a:ea typeface="a옛날목욕탕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045" y="489739"/>
            <a:ext cx="5931147" cy="5751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5 EC2 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인스턴스 생성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(6)</a:t>
            </a:r>
            <a:endParaRPr lang="en-US" altLang="ko-KR" sz="3200" b="1">
              <a:solidFill>
                <a:srgbClr val="0c2759"/>
              </a:solidFill>
              <a:latin typeface="+mj-lt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808291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26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pic>
        <p:nvPicPr>
          <p:cNvPr id="11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504" y="2357163"/>
            <a:ext cx="8928992" cy="3088061"/>
          </a:xfrm>
          <a:prstGeom prst="rect">
            <a:avLst/>
          </a:prstGeom>
        </p:spPr>
      </p:pic>
      <p:sp>
        <p:nvSpPr>
          <p:cNvPr id="112" name="사각형: 둥근 모서리 7"/>
          <p:cNvSpPr/>
          <p:nvPr/>
        </p:nvSpPr>
        <p:spPr>
          <a:xfrm>
            <a:off x="1475656" y="1556792"/>
            <a:ext cx="5796644" cy="504055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latin typeface="a옛날목욕탕L"/>
                <a:ea typeface="a옛날목욕탕L"/>
              </a:rPr>
              <a:t>단계</a:t>
            </a:r>
            <a:r>
              <a:rPr lang="en-US" altLang="ko-KR">
                <a:latin typeface="a옛날목욕탕L"/>
                <a:ea typeface="a옛날목욕탕L"/>
              </a:rPr>
              <a:t>6:</a:t>
            </a:r>
            <a:r>
              <a:rPr lang="ko-KR" altLang="en-US">
                <a:latin typeface="a옛날목욕탕L"/>
                <a:ea typeface="a옛날목욕탕L"/>
              </a:rPr>
              <a:t> 보안그룹 설정하기</a:t>
            </a:r>
            <a:endParaRPr lang="ko-KR" altLang="en-US">
              <a:latin typeface="a옛날목욕탕L"/>
              <a:ea typeface="a옛날목욕탕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045" y="489739"/>
            <a:ext cx="5931147" cy="5751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5 EC2 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인스턴스 생성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(7)</a:t>
            </a:r>
            <a:endParaRPr lang="en-US" altLang="ko-KR" sz="3200" b="1">
              <a:solidFill>
                <a:srgbClr val="0c2759"/>
              </a:solidFill>
              <a:latin typeface="+mj-lt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808291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27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pic>
        <p:nvPicPr>
          <p:cNvPr id="109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67544" y="2204864"/>
            <a:ext cx="5112568" cy="4176463"/>
          </a:xfrm>
          <a:prstGeom prst="rect">
            <a:avLst/>
          </a:prstGeom>
        </p:spPr>
      </p:pic>
      <p:sp>
        <p:nvSpPr>
          <p:cNvPr id="110" name="사각형: 둥근 모서리 7"/>
          <p:cNvSpPr/>
          <p:nvPr/>
        </p:nvSpPr>
        <p:spPr>
          <a:xfrm>
            <a:off x="6156176" y="2780928"/>
            <a:ext cx="2736304" cy="1800200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latin typeface="a옛날목욕탕L"/>
                <a:ea typeface="a옛날목욕탕L"/>
              </a:rPr>
              <a:t>키페어를 컴퓨터 내부에 안전한 장소에 저장</a:t>
            </a:r>
            <a:r>
              <a:rPr lang="en-US" altLang="ko-KR">
                <a:latin typeface="a옛날목욕탕L"/>
                <a:ea typeface="a옛날목욕탕L"/>
              </a:rPr>
              <a:t>!</a:t>
            </a:r>
            <a:endParaRPr lang="en-US" altLang="ko-KR">
              <a:latin typeface="a옛날목욕탕L"/>
              <a:ea typeface="a옛날목욕탕L"/>
            </a:endParaRPr>
          </a:p>
        </p:txBody>
      </p:sp>
      <p:sp>
        <p:nvSpPr>
          <p:cNvPr id="112" name=""/>
          <p:cNvSpPr/>
          <p:nvPr/>
        </p:nvSpPr>
        <p:spPr>
          <a:xfrm>
            <a:off x="4211960" y="4653136"/>
            <a:ext cx="1008112" cy="360040"/>
          </a:xfrm>
          <a:prstGeom prst="borderCallout1">
            <a:avLst>
              <a:gd name="adj1" fmla="val 57661"/>
              <a:gd name="adj2" fmla="val 101235"/>
              <a:gd name="adj3" fmla="val -239761"/>
              <a:gd name="adj4" fmla="val 193094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3" name="사각형: 둥근 모서리 7"/>
          <p:cNvSpPr/>
          <p:nvPr/>
        </p:nvSpPr>
        <p:spPr>
          <a:xfrm>
            <a:off x="1475656" y="1556792"/>
            <a:ext cx="5796644" cy="504055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latin typeface="a옛날목욕탕L"/>
                <a:ea typeface="a옛날목욕탕L"/>
              </a:rPr>
              <a:t>단계</a:t>
            </a:r>
            <a:r>
              <a:rPr lang="en-US" altLang="ko-KR">
                <a:latin typeface="a옛날목욕탕L"/>
                <a:ea typeface="a옛날목욕탕L"/>
              </a:rPr>
              <a:t>7:</a:t>
            </a:r>
            <a:r>
              <a:rPr lang="ko-KR" altLang="en-US">
                <a:latin typeface="a옛날목욕탕L"/>
                <a:ea typeface="a옛날목욕탕L"/>
              </a:rPr>
              <a:t> 인스턴스 비밀번호 생성</a:t>
            </a:r>
            <a:endParaRPr lang="ko-KR" altLang="en-US">
              <a:latin typeface="a옛날목욕탕L"/>
              <a:ea typeface="a옛날목욕탕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045" y="489739"/>
            <a:ext cx="5931147" cy="5751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5 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생성된 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EC2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확인 </a:t>
            </a:r>
            <a:endParaRPr lang="ko-KR" altLang="en-US" sz="3200" b="1">
              <a:solidFill>
                <a:srgbClr val="0c2759"/>
              </a:solidFill>
              <a:latin typeface="+mj-lt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808291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27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sp>
        <p:nvSpPr>
          <p:cNvPr id="109" name="사각형: 둥근 모서리 7"/>
          <p:cNvSpPr/>
          <p:nvPr/>
        </p:nvSpPr>
        <p:spPr>
          <a:xfrm>
            <a:off x="1691680" y="2060848"/>
            <a:ext cx="4968552" cy="1152128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>
                <a:latin typeface="a옛날목욕탕L"/>
                <a:ea typeface="a옛날목욕탕L"/>
              </a:rPr>
              <a:t>aws</a:t>
            </a:r>
            <a:r>
              <a:rPr lang="ko-KR" altLang="en-US">
                <a:latin typeface="a옛날목욕탕L"/>
                <a:ea typeface="a옛날목욕탕L"/>
              </a:rPr>
              <a:t>콘솔의 서비스 </a:t>
            </a:r>
            <a:r>
              <a:rPr lang="en-US" altLang="ko-KR">
                <a:latin typeface="a옛날목욕탕L"/>
                <a:ea typeface="a옛날목욕탕L"/>
              </a:rPr>
              <a:t>-&gt;</a:t>
            </a:r>
            <a:r>
              <a:rPr lang="ko-KR" altLang="en-US">
                <a:latin typeface="a옛날목욕탕L"/>
                <a:ea typeface="a옛날목욕탕L"/>
              </a:rPr>
              <a:t> </a:t>
            </a:r>
            <a:r>
              <a:rPr lang="en-US" altLang="ko-KR">
                <a:latin typeface="a옛날목욕탕L"/>
                <a:ea typeface="a옛날목욕탕L"/>
              </a:rPr>
              <a:t>EC2</a:t>
            </a:r>
            <a:r>
              <a:rPr lang="ko-KR" altLang="en-US">
                <a:latin typeface="a옛날목욕탕L"/>
                <a:ea typeface="a옛날목욕탕L"/>
              </a:rPr>
              <a:t> 들어간후</a:t>
            </a:r>
            <a:r>
              <a:rPr lang="en-US" altLang="ko-KR">
                <a:latin typeface="a옛날목욕탕L"/>
                <a:ea typeface="a옛날목욕탕L"/>
              </a:rPr>
              <a:t>,</a:t>
            </a:r>
            <a:endParaRPr lang="en-US" altLang="ko-KR">
              <a:latin typeface="a옛날목욕탕L"/>
              <a:ea typeface="a옛날목욕탕L"/>
            </a:endParaRPr>
          </a:p>
          <a:p>
            <a:pPr algn="ctr">
              <a:defRPr/>
            </a:pPr>
            <a:r>
              <a:rPr lang="ko-KR" altLang="en-US">
                <a:latin typeface="a옛날목욕탕L"/>
                <a:ea typeface="a옛날목욕탕L"/>
              </a:rPr>
              <a:t>왼쪽 인스턴스 클릭</a:t>
            </a:r>
            <a:endParaRPr lang="ko-KR" altLang="en-US">
              <a:latin typeface="a옛날목욕탕L"/>
              <a:ea typeface="a옛날목욕탕L"/>
            </a:endParaRPr>
          </a:p>
        </p:txBody>
      </p:sp>
      <p:pic>
        <p:nvPicPr>
          <p:cNvPr id="11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15616" y="3693392"/>
            <a:ext cx="6192688" cy="1247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045" y="489739"/>
            <a:ext cx="5931147" cy="5751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5 AWS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인스턴스 연결하기</a:t>
            </a:r>
            <a:endParaRPr lang="ko-KR" altLang="en-US" sz="3200" b="1">
              <a:solidFill>
                <a:srgbClr val="0c2759"/>
              </a:solidFill>
              <a:latin typeface="+mj-lt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808291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29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pic>
        <p:nvPicPr>
          <p:cNvPr id="109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58899" y="1608782"/>
            <a:ext cx="2828925" cy="3640435"/>
          </a:xfrm>
          <a:prstGeom prst="rect">
            <a:avLst/>
          </a:prstGeom>
        </p:spPr>
      </p:pic>
      <p:pic>
        <p:nvPicPr>
          <p:cNvPr id="110" name=""/>
          <p:cNvPicPr>
            <a:picLocks noChangeAspect="1"/>
          </p:cNvPicPr>
          <p:nvPr/>
        </p:nvPicPr>
        <p:blipFill rotWithShape="1">
          <a:blip r:embed="rId4"/>
          <a:srcRect l="2980"/>
          <a:stretch>
            <a:fillRect/>
          </a:stretch>
        </p:blipFill>
        <p:spPr>
          <a:xfrm>
            <a:off x="4067944" y="1484784"/>
            <a:ext cx="4680520" cy="4824536"/>
          </a:xfrm>
          <a:prstGeom prst="rect">
            <a:avLst/>
          </a:prstGeom>
        </p:spPr>
      </p:pic>
      <p:sp>
        <p:nvSpPr>
          <p:cNvPr id="111" name=""/>
          <p:cNvSpPr/>
          <p:nvPr/>
        </p:nvSpPr>
        <p:spPr>
          <a:xfrm>
            <a:off x="1043608" y="1772816"/>
            <a:ext cx="1872208" cy="432048"/>
          </a:xfrm>
          <a:prstGeom prst="borderCallout2">
            <a:avLst>
              <a:gd name="adj1" fmla="val 49464"/>
              <a:gd name="adj2" fmla="val 101233"/>
              <a:gd name="adj3" fmla="val 39123"/>
              <a:gd name="adj4" fmla="val 120549"/>
              <a:gd name="adj5" fmla="val -23070"/>
              <a:gd name="adj6" fmla="val 161205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2" name="사각형: 둥근 모서리 7"/>
          <p:cNvSpPr/>
          <p:nvPr/>
        </p:nvSpPr>
        <p:spPr>
          <a:xfrm>
            <a:off x="539552" y="5589240"/>
            <a:ext cx="3024336" cy="432048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latin typeface="a옛날목욕탕L"/>
                <a:ea typeface="a옛날목욕탕L"/>
              </a:rPr>
              <a:t>생성된 인스턴스 연결클릭</a:t>
            </a:r>
            <a:endParaRPr lang="ko-KR" altLang="en-US">
              <a:latin typeface="a옛날목욕탕L"/>
              <a:ea typeface="a옛날목욕탕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045" y="489739"/>
            <a:ext cx="8307411" cy="5751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5 AWS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인스턴스 연결하기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(1)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[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윈도우환경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]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</a:t>
            </a:r>
            <a:endParaRPr lang="ko-KR" altLang="en-US" sz="3200" b="1">
              <a:solidFill>
                <a:srgbClr val="0c2759"/>
              </a:solidFill>
              <a:latin typeface="+mj-lt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808291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30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1619672" y="3429000"/>
            <a:ext cx="5543549" cy="64237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en-US"/>
              <a:t>https://www.netsarang.com/ko/free-for-home-school/</a:t>
            </a:r>
            <a:endParaRPr lang="en-US" altLang="en-US"/>
          </a:p>
        </p:txBody>
      </p:sp>
      <p:sp>
        <p:nvSpPr>
          <p:cNvPr id="112" name="사각형: 둥근 모서리 7"/>
          <p:cNvSpPr/>
          <p:nvPr/>
        </p:nvSpPr>
        <p:spPr>
          <a:xfrm>
            <a:off x="2627784" y="1844824"/>
            <a:ext cx="3024336" cy="720080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>
                <a:latin typeface="a옛날목욕탕L"/>
                <a:ea typeface="a옛날목욕탕L"/>
              </a:rPr>
              <a:t>XShell </a:t>
            </a:r>
            <a:r>
              <a:rPr lang="ko-KR" altLang="en-US">
                <a:latin typeface="a옛날목욕탕L"/>
                <a:ea typeface="a옛날목욕탕L"/>
              </a:rPr>
              <a:t>설치</a:t>
            </a:r>
            <a:endParaRPr lang="en-US" altLang="ko-KR">
              <a:latin typeface="a옛날목욕탕L"/>
              <a:ea typeface="a옛날목욕탕L"/>
            </a:endParaRPr>
          </a:p>
        </p:txBody>
      </p:sp>
      <p:pic>
        <p:nvPicPr>
          <p:cNvPr id="11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131840" y="3839319"/>
            <a:ext cx="2009775" cy="885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00392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044" y="489739"/>
            <a:ext cx="7875364" cy="5751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5 AWS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인스턴스 연결하기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(2)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[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윈도우환경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]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</a:t>
            </a:r>
            <a:endParaRPr lang="ko-KR" altLang="en-US" sz="3200" b="1">
              <a:solidFill>
                <a:srgbClr val="0c2759"/>
              </a:solidFill>
              <a:latin typeface="+mj-lt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808291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30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sp>
        <p:nvSpPr>
          <p:cNvPr id="110" name="사각형: 둥근 모서리 7"/>
          <p:cNvSpPr/>
          <p:nvPr/>
        </p:nvSpPr>
        <p:spPr>
          <a:xfrm>
            <a:off x="611560" y="1556792"/>
            <a:ext cx="3240360" cy="360040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latin typeface="a옛날목욕탕L"/>
                <a:ea typeface="a옛날목욕탕L"/>
              </a:rPr>
              <a:t>파일</a:t>
            </a:r>
            <a:r>
              <a:rPr lang="en-US" altLang="ko-KR">
                <a:latin typeface="a옛날목욕탕L"/>
                <a:ea typeface="a옛날목욕탕L"/>
              </a:rPr>
              <a:t>-&gt;</a:t>
            </a:r>
            <a:r>
              <a:rPr lang="ko-KR" altLang="en-US">
                <a:latin typeface="a옛날목욕탕L"/>
                <a:ea typeface="a옛날목욕탕L"/>
              </a:rPr>
              <a:t>열기</a:t>
            </a:r>
            <a:r>
              <a:rPr lang="en-US" altLang="ko-KR">
                <a:latin typeface="a옛날목욕탕L"/>
                <a:ea typeface="a옛날목욕탕L"/>
              </a:rPr>
              <a:t>-&gt;</a:t>
            </a:r>
            <a:r>
              <a:rPr lang="ko-KR" altLang="en-US">
                <a:latin typeface="a옛날목욕탕L"/>
                <a:ea typeface="a옛날목욕탕L"/>
              </a:rPr>
              <a:t>새로만들기</a:t>
            </a:r>
            <a:endParaRPr lang="ko-KR" altLang="en-US">
              <a:latin typeface="a옛날목욕탕L"/>
              <a:ea typeface="a옛날목욕탕L"/>
            </a:endParaRPr>
          </a:p>
        </p:txBody>
      </p:sp>
      <p:pic>
        <p:nvPicPr>
          <p:cNvPr id="11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3528" y="2546573"/>
            <a:ext cx="4248472" cy="3330698"/>
          </a:xfrm>
          <a:prstGeom prst="rect">
            <a:avLst/>
          </a:prstGeom>
        </p:spPr>
      </p:pic>
      <p:sp>
        <p:nvSpPr>
          <p:cNvPr id="113" name=""/>
          <p:cNvSpPr/>
          <p:nvPr/>
        </p:nvSpPr>
        <p:spPr>
          <a:xfrm>
            <a:off x="2339752" y="4365104"/>
            <a:ext cx="1512168" cy="360040"/>
          </a:xfrm>
          <a:prstGeom prst="borderCallout1">
            <a:avLst>
              <a:gd name="adj1" fmla="val 61757"/>
              <a:gd name="adj2" fmla="val 99187"/>
              <a:gd name="adj3" fmla="val -26771"/>
              <a:gd name="adj4" fmla="val 234567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4" name="사각형: 둥근 모서리 7"/>
          <p:cNvSpPr/>
          <p:nvPr/>
        </p:nvSpPr>
        <p:spPr>
          <a:xfrm>
            <a:off x="4572000" y="4149080"/>
            <a:ext cx="4248472" cy="648072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lt1"/>
                </a:solidFill>
                <a:latin typeface="a옛날목욕탕L"/>
                <a:ea typeface="a옛날목욕탕L"/>
              </a:rPr>
              <a:t>생성한 인스턴스의 퍼블릭 </a:t>
            </a:r>
            <a:r>
              <a:rPr lang="en-US" altLang="ko-KR">
                <a:solidFill>
                  <a:schemeClr val="lt1"/>
                </a:solidFill>
                <a:latin typeface="a옛날목욕탕L"/>
                <a:ea typeface="a옛날목욕탕L"/>
              </a:rPr>
              <a:t>DNS</a:t>
            </a:r>
            <a:r>
              <a:rPr lang="ko-KR" altLang="en-US">
                <a:solidFill>
                  <a:schemeClr val="lt1"/>
                </a:solidFill>
                <a:latin typeface="a옛날목욕탕L"/>
                <a:ea typeface="a옛날목욕탕L"/>
              </a:rPr>
              <a:t>를 입력</a:t>
            </a:r>
            <a:endParaRPr lang="ko-KR" altLang="en-US">
              <a:solidFill>
                <a:schemeClr val="lt1"/>
              </a:solidFill>
              <a:latin typeface="a옛날목욕탕L"/>
              <a:ea typeface="a옛날목욕탕L"/>
            </a:endParaRPr>
          </a:p>
          <a:p>
            <a:pPr algn="ctr">
              <a:defRPr/>
            </a:pPr>
            <a:r>
              <a:rPr lang="en-US" altLang="ko-KR">
                <a:solidFill>
                  <a:schemeClr val="lt1"/>
                </a:solidFill>
                <a:latin typeface="a옛날목욕탕L"/>
                <a:ea typeface="a옛날목욕탕L"/>
              </a:rPr>
              <a:t>(28</a:t>
            </a:r>
            <a:r>
              <a:rPr lang="ko-KR" altLang="en-US">
                <a:solidFill>
                  <a:schemeClr val="lt1"/>
                </a:solidFill>
                <a:latin typeface="a옛날목욕탕L"/>
                <a:ea typeface="a옛날목욕탕L"/>
              </a:rPr>
              <a:t>슬라이드참고</a:t>
            </a:r>
            <a:r>
              <a:rPr lang="en-US" altLang="ko-KR">
                <a:solidFill>
                  <a:schemeClr val="lt1"/>
                </a:solidFill>
                <a:latin typeface="a옛날목욕탕L"/>
                <a:ea typeface="a옛날목욕탕L"/>
              </a:rPr>
              <a:t>)</a:t>
            </a:r>
            <a:endParaRPr lang="en-US" altLang="ko-KR">
              <a:solidFill>
                <a:schemeClr val="lt1"/>
              </a:solidFill>
              <a:latin typeface="a옛날목욕탕L"/>
              <a:ea typeface="a옛날목욕탕L"/>
            </a:endParaRPr>
          </a:p>
        </p:txBody>
      </p:sp>
      <p:sp>
        <p:nvSpPr>
          <p:cNvPr id="116" name=""/>
          <p:cNvSpPr/>
          <p:nvPr/>
        </p:nvSpPr>
        <p:spPr>
          <a:xfrm>
            <a:off x="1979712" y="2060848"/>
            <a:ext cx="504056" cy="50405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a0b4e6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044" y="489739"/>
            <a:ext cx="8091388" cy="5751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5 AWS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인스턴스 연결하기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(3)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[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윈도우환경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]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</a:t>
            </a:r>
            <a:endParaRPr lang="ko-KR" altLang="en-US" sz="3200" b="1">
              <a:solidFill>
                <a:srgbClr val="0c2759"/>
              </a:solidFill>
              <a:latin typeface="+mj-lt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808291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31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pic>
        <p:nvPicPr>
          <p:cNvPr id="109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581721" y="1752600"/>
            <a:ext cx="5238750" cy="3352800"/>
          </a:xfrm>
          <a:prstGeom prst="rect">
            <a:avLst/>
          </a:prstGeom>
        </p:spPr>
      </p:pic>
      <p:sp>
        <p:nvSpPr>
          <p:cNvPr id="110" name="사각형: 둥근 모서리 7"/>
          <p:cNvSpPr/>
          <p:nvPr/>
        </p:nvSpPr>
        <p:spPr>
          <a:xfrm>
            <a:off x="107504" y="3429000"/>
            <a:ext cx="3240360" cy="504056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>
                <a:latin typeface="a옛날목욕탕L"/>
                <a:ea typeface="a옛날목욕탕L"/>
              </a:rPr>
              <a:t>ubuntu</a:t>
            </a:r>
            <a:r>
              <a:rPr lang="ko-KR" altLang="en-US">
                <a:latin typeface="a옛날목욕탕L"/>
                <a:ea typeface="a옛날목욕탕L"/>
              </a:rPr>
              <a:t>입력</a:t>
            </a: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111" name="사각형: 둥근 모서리 7"/>
          <p:cNvSpPr/>
          <p:nvPr/>
        </p:nvSpPr>
        <p:spPr>
          <a:xfrm>
            <a:off x="107504" y="2564904"/>
            <a:ext cx="3240360" cy="504056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latin typeface="a옛날목욕탕L"/>
                <a:ea typeface="a옛날목욕탕L"/>
              </a:rPr>
              <a:t>방법을 </a:t>
            </a:r>
            <a:r>
              <a:rPr lang="en-US" altLang="ko-KR">
                <a:latin typeface="a옛날목욕탕L"/>
                <a:ea typeface="a옛날목욕탕L"/>
              </a:rPr>
              <a:t>Public</a:t>
            </a:r>
            <a:r>
              <a:rPr lang="ko-KR" altLang="en-US">
                <a:latin typeface="a옛날목욕탕L"/>
                <a:ea typeface="a옛날목욕탕L"/>
              </a:rPr>
              <a:t>키로 변경생성</a:t>
            </a: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113" name=""/>
          <p:cNvSpPr/>
          <p:nvPr/>
        </p:nvSpPr>
        <p:spPr>
          <a:xfrm>
            <a:off x="6228184" y="3429000"/>
            <a:ext cx="1512168" cy="288032"/>
          </a:xfrm>
          <a:prstGeom prst="borderCallout1">
            <a:avLst>
              <a:gd name="adj1" fmla="val 18750"/>
              <a:gd name="adj2" fmla="val -8333"/>
              <a:gd name="adj3" fmla="val -186476"/>
              <a:gd name="adj4" fmla="val -187321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4" name="사각형: 둥근 모서리 7"/>
          <p:cNvSpPr/>
          <p:nvPr/>
        </p:nvSpPr>
        <p:spPr>
          <a:xfrm>
            <a:off x="107504" y="4365104"/>
            <a:ext cx="3240360" cy="648072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latin typeface="a옛날목욕탕L"/>
                <a:ea typeface="a옛날목욕탕L"/>
              </a:rPr>
              <a:t>생성한 인스턴스의 키페어파일을 등록</a:t>
            </a: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115" name=""/>
          <p:cNvSpPr/>
          <p:nvPr/>
        </p:nvSpPr>
        <p:spPr>
          <a:xfrm>
            <a:off x="3995936" y="2420888"/>
            <a:ext cx="864096" cy="2880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6" name=""/>
          <p:cNvSpPr/>
          <p:nvPr/>
        </p:nvSpPr>
        <p:spPr>
          <a:xfrm>
            <a:off x="6228184" y="3717032"/>
            <a:ext cx="1512168" cy="288032"/>
          </a:xfrm>
          <a:prstGeom prst="borderCallout1">
            <a:avLst>
              <a:gd name="adj1" fmla="val 49469"/>
              <a:gd name="adj2" fmla="val -140"/>
              <a:gd name="adj3" fmla="val -41108"/>
              <a:gd name="adj4" fmla="val -188344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1" name=""/>
          <p:cNvSpPr/>
          <p:nvPr/>
        </p:nvSpPr>
        <p:spPr>
          <a:xfrm>
            <a:off x="7668344" y="4365104"/>
            <a:ext cx="936104" cy="360040"/>
          </a:xfrm>
          <a:prstGeom prst="borderCallout1">
            <a:avLst>
              <a:gd name="adj1" fmla="val 74045"/>
              <a:gd name="adj2" fmla="val -4236"/>
              <a:gd name="adj3" fmla="val 79730"/>
              <a:gd name="adj4" fmla="val -460213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직사각형 104"/>
          <p:cNvSpPr/>
          <p:nvPr/>
        </p:nvSpPr>
        <p:spPr>
          <a:xfrm>
            <a:off x="8172400" y="0"/>
            <a:ext cx="792088" cy="1844824"/>
          </a:xfrm>
          <a:prstGeom prst="rect">
            <a:avLst/>
          </a:prstGeom>
          <a:solidFill>
            <a:srgbClr val="0c2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a옛날목욕탕L"/>
              <a:ea typeface="a옛날목욕탕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045" y="489739"/>
            <a:ext cx="7731347" cy="5751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5 AWS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인스턴스 연결하기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(4)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[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윈도우환경</a:t>
            </a:r>
            <a:r>
              <a:rPr lang="en-US" altLang="ko-KR" sz="3200" b="1">
                <a:solidFill>
                  <a:srgbClr val="0c2759"/>
                </a:solidFill>
                <a:latin typeface="+mj-lt"/>
                <a:ea typeface="a옛날목욕탕L"/>
              </a:rPr>
              <a:t>]</a:t>
            </a:r>
            <a:r>
              <a:rPr lang="ko-KR" altLang="en-US" sz="3200" b="1">
                <a:solidFill>
                  <a:srgbClr val="0c2759"/>
                </a:solidFill>
                <a:latin typeface="+mj-lt"/>
                <a:ea typeface="a옛날목욕탕L"/>
              </a:rPr>
              <a:t> </a:t>
            </a:r>
            <a:endParaRPr lang="ko-KR" altLang="en-US" sz="3200" b="1">
              <a:solidFill>
                <a:srgbClr val="0c2759"/>
              </a:solidFill>
              <a:latin typeface="+mj-lt"/>
              <a:ea typeface="a옛날목욕탕L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340597" y="1268760"/>
            <a:ext cx="7740892" cy="0"/>
          </a:xfrm>
          <a:prstGeom prst="line">
            <a:avLst/>
          </a:prstGeom>
          <a:ln>
            <a:solidFill>
              <a:srgbClr val="0c27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53200" y="6808291"/>
            <a:ext cx="2133600" cy="365125"/>
          </a:xfrm>
        </p:spPr>
        <p:txBody>
          <a:bodyPr/>
          <a:lstStyle/>
          <a:p>
            <a:pPr lvl="0">
              <a:defRPr/>
            </a:pPr>
            <a:fld id="{7804239B-D302-47C8-870F-9A3CEECBE377}" type="slidenum">
              <a:rPr lang="en-US" altLang="en-US">
                <a:latin typeface="KoPub돋움체_Pro Bold"/>
                <a:ea typeface="KoPub돋움체_Pro Bold"/>
              </a:rPr>
              <a:pPr lvl="0">
                <a:defRPr/>
              </a:pPr>
              <a:t>32</a:t>
            </a:fld>
            <a:endParaRPr lang="en-US" altLang="en-US">
              <a:latin typeface="KoPub돋움체_Pro Bold"/>
              <a:ea typeface="KoPub돋움체_Pro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534835"/>
            <a:ext cx="4111625" cy="31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충북대학교 </a:t>
            </a:r>
            <a:r>
              <a:rPr lang="en-US" altLang="ko-KR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SW</a:t>
            </a:r>
            <a:r>
              <a:rPr lang="ko-KR" altLang="en-US" sz="1500">
                <a:solidFill>
                  <a:schemeClr val="bg1">
                    <a:lumMod val="50000"/>
                  </a:schemeClr>
                </a:solidFill>
                <a:latin typeface="KoPub돋움체_Pro Bold"/>
                <a:ea typeface="KoPub돋움체_Pro Bold"/>
              </a:rPr>
              <a:t>중심대학사업단</a:t>
            </a:r>
            <a:endParaRPr lang="ko-KR" altLang="en-US" sz="1500">
              <a:solidFill>
                <a:schemeClr val="bg1">
                  <a:lumMod val="50000"/>
                </a:schemeClr>
              </a:solidFill>
              <a:latin typeface="KoPub돋움체_Pro Bold"/>
              <a:ea typeface="KoPub돋움체_Pro Bold"/>
            </a:endParaRPr>
          </a:p>
        </p:txBody>
      </p:sp>
      <p:pic>
        <p:nvPicPr>
          <p:cNvPr id="11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3528" y="1340768"/>
            <a:ext cx="6105525" cy="5238750"/>
          </a:xfrm>
          <a:prstGeom prst="rect">
            <a:avLst/>
          </a:prstGeom>
        </p:spPr>
      </p:pic>
      <p:sp>
        <p:nvSpPr>
          <p:cNvPr id="113" name="사각형: 둥근 모서리 7"/>
          <p:cNvSpPr/>
          <p:nvPr/>
        </p:nvSpPr>
        <p:spPr>
          <a:xfrm>
            <a:off x="6516216" y="2996952"/>
            <a:ext cx="2520280" cy="1656184"/>
          </a:xfrm>
          <a:prstGeom prst="roundRect">
            <a:avLst>
              <a:gd name="adj" fmla="val 16667"/>
            </a:avLst>
          </a:prstGeom>
          <a:solidFill>
            <a:srgbClr val="0c27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latin typeface="a옛날목욕탕L"/>
                <a:ea typeface="a옛날목욕탕L"/>
              </a:rPr>
              <a:t>연결 완료된 모습</a:t>
            </a:r>
            <a:endParaRPr lang="ko-KR" altLang="en-US">
              <a:latin typeface="a옛날목욕탕L"/>
              <a:ea typeface="a옛날목욕탕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658</ep:Words>
  <ep:PresentationFormat>화면 슬라이드 쇼(4:3)</ep:PresentationFormat>
  <ep:Paragraphs>184</ep:Paragraphs>
  <ep:Slides>34</ep:Slides>
  <ep:Notes>34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ep:HeadingPairs>
  <ep:TitlesOfParts>
    <vt:vector size="35" baseType="lpstr">
      <vt:lpstr>Office 테마</vt:lpstr>
      <vt:lpstr>슬라이드 1</vt:lpstr>
      <vt:lpstr>PowerPoint 프레젠테이션</vt:lpstr>
      <vt:lpstr>PowerPoint 프레젠테이션</vt:lpstr>
      <vt:lpstr>PowerPoint 프레젠테이션</vt:lpstr>
      <vt:lpstr>슬라이드 5</vt:lpstr>
      <vt:lpstr>PowerPoint 프레젠테이션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AWS 시작하기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2014-04-11T08:18:22.000</dcterms:created>
  <dc:creator>NSM</dc:creator>
  <cp:lastModifiedBy>jtm06</cp:lastModifiedBy>
  <dcterms:modified xsi:type="dcterms:W3CDTF">2020-03-30T04:55:38.284</dcterms:modified>
  <cp:revision>234</cp:revision>
  <dc:title>슬라이드 0</dc:title>
  <cp:version>1000.0000.01</cp:version>
</cp:coreProperties>
</file>