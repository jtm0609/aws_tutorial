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firstSlideNum="0" showSpecialPlsOnTitleSld="0" embedTrueTypeFonts="1" saveSubsetFonts="1">
  <p:sldMasterIdLst>
    <p:sldMasterId id="2147483664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howPr showNarration="1">
    <p:present/>
    <p:sldAll/>
    <p:penClr>
      <a:prstClr val="red"/>
    </p:penClr>
    <p:extLst>
      <p:ext uri="{2FDB2607-1784-4EEB-B798-7EB5836EED8A}">
        <p14:showMediaCtrls xmlns:p14="http://schemas.microsoft.com/office/powerpoint/2010/main" val="1"/>
      </p:ext>
    </p:extLst>
  </p:showPr>
  <p:extLst>
    <p:ext uri="ACF4677E-8BD2-47ae-8A1F-98590045965D">
      <hp:hncThemeShow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18027" autoAdjust="0"/>
    <p:restoredTop sz="84777"/>
  </p:normalViewPr>
  <p:slideViewPr>
    <p:cSldViewPr>
      <p:cViewPr varScale="1">
        <p:scale>
          <a:sx n="100" d="100"/>
          <a:sy n="100" d="100"/>
        </p:scale>
        <p:origin x="1459" y="22"/>
      </p:cViewPr>
      <p:guideLst>
        <p:guide orient="horz" pos="2158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8.xml"  /><Relationship Id="rId11" Type="http://schemas.openxmlformats.org/officeDocument/2006/relationships/slide" Target="slides/slide9.xml"  /><Relationship Id="rId12" Type="http://schemas.openxmlformats.org/officeDocument/2006/relationships/slide" Target="slides/slide10.xml"  /><Relationship Id="rId13" Type="http://schemas.openxmlformats.org/officeDocument/2006/relationships/slide" Target="slides/slide11.xml"  /><Relationship Id="rId14" Type="http://schemas.openxmlformats.org/officeDocument/2006/relationships/slide" Target="slides/slide12.xml"  /><Relationship Id="rId15" Type="http://schemas.openxmlformats.org/officeDocument/2006/relationships/slide" Target="slides/slide13.xml"  /><Relationship Id="rId16" Type="http://schemas.openxmlformats.org/officeDocument/2006/relationships/presProps" Target="presProps.xml"  /><Relationship Id="rId17" Type="http://schemas.openxmlformats.org/officeDocument/2006/relationships/viewProps" Target="viewProps.xml"  /><Relationship Id="rId18" Type="http://schemas.openxmlformats.org/officeDocument/2006/relationships/theme" Target="theme/theme1.xml"  /><Relationship Id="rId19" Type="http://schemas.openxmlformats.org/officeDocument/2006/relationships/tableStyles" Target="tableStyles.xml"  /><Relationship Id="rId2" Type="http://schemas.openxmlformats.org/officeDocument/2006/relationships/notesMaster" Target="notesMasters/notesMaster1.xml"  /><Relationship Id="rId3" Type="http://schemas.openxmlformats.org/officeDocument/2006/relationships/slide" Target="slides/slide1.xml"  /><Relationship Id="rId4" Type="http://schemas.openxmlformats.org/officeDocument/2006/relationships/slide" Target="slides/slide2.xml"  /><Relationship Id="rId5" Type="http://schemas.openxmlformats.org/officeDocument/2006/relationships/slide" Target="slides/slide3.xml"  /><Relationship Id="rId6" Type="http://schemas.openxmlformats.org/officeDocument/2006/relationships/slide" Target="slides/slide4.xml"  /><Relationship Id="rId7" Type="http://schemas.openxmlformats.org/officeDocument/2006/relationships/slide" Target="slides/slide5.xml"  /><Relationship Id="rId8" Type="http://schemas.openxmlformats.org/officeDocument/2006/relationships/slide" Target="slides/slide6.xml"  /><Relationship Id="rId9" Type="http://schemas.openxmlformats.org/officeDocument/2006/relationships/slide" Target="slides/slide7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8D6BA485-E049-4DD6-95CF-54C69AB6BBF0}" type="datetime1">
              <a:rPr lang="ko-KR" altLang="en-US"/>
              <a:pPr lvl="0">
                <a:defRPr/>
              </a:pPr>
              <a:t>2020-03-17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6A1F8AF5-6555-4DEB-A3E2-0F9F2D28522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slide" Target="../slides/slide3.xml"  /><Relationship Id="rId2" Type="http://schemas.openxmlformats.org/officeDocument/2006/relationships/notesMaster" Target="../notesMasters/notesMaster1.xml"  /></Relationships>
</file>

<file path=ppt/notesSlides/_rels/notesSlide2.xml.rels><?xml version="1.0" encoding="UTF-8" standalone="yes" ?><Relationships xmlns="http://schemas.openxmlformats.org/package/2006/relationships"><Relationship Id="rId1" Type="http://schemas.openxmlformats.org/officeDocument/2006/relationships/slide" Target="../slides/slide4.xml"  /><Relationship Id="rId2" Type="http://schemas.openxmlformats.org/officeDocument/2006/relationships/notesMaster" Target="../notesMasters/notesMaster1.xml"  /></Relationships>
</file>

<file path=ppt/notesSlides/_rels/notesSlide3.xml.rels><?xml version="1.0" encoding="UTF-8" standalone="yes" ?><Relationships xmlns="http://schemas.openxmlformats.org/package/2006/relationships"><Relationship Id="rId1" Type="http://schemas.openxmlformats.org/officeDocument/2006/relationships/slide" Target="../slides/slide5.xml"  /><Relationship Id="rId2" Type="http://schemas.openxmlformats.org/officeDocument/2006/relationships/notesMaster" Target="../notesMasters/notesMaster1.xml"  /></Relationships>
</file>

<file path=ppt/notesSlides/_rels/notesSlide4.xml.rels><?xml version="1.0" encoding="UTF-8" standalone="yes" ?><Relationships xmlns="http://schemas.openxmlformats.org/package/2006/relationships"><Relationship Id="rId1" Type="http://schemas.openxmlformats.org/officeDocument/2006/relationships/slide" Target="../slides/slide6.xml"  /><Relationship Id="rId2" Type="http://schemas.openxmlformats.org/officeDocument/2006/relationships/notesMaster" Target="../notesMasters/notesMaster1.xml"  /></Relationships>
</file>

<file path=ppt/notesSlides/_rels/notesSlide5.xml.rels><?xml version="1.0" encoding="UTF-8" standalone="yes" ?><Relationships xmlns="http://schemas.openxmlformats.org/package/2006/relationships"><Relationship Id="rId1" Type="http://schemas.openxmlformats.org/officeDocument/2006/relationships/slide" Target="../slides/slide7.xml"  /><Relationship Id="rId2" Type="http://schemas.openxmlformats.org/officeDocument/2006/relationships/notesMaster" Target="../notesMasters/notesMaster1.xml"  /></Relationships>
</file>

<file path=ppt/notesSlides/_rels/notesSlide6.xml.rels><?xml version="1.0" encoding="UTF-8" standalone="yes" ?><Relationships xmlns="http://schemas.openxmlformats.org/package/2006/relationships"><Relationship Id="rId1" Type="http://schemas.openxmlformats.org/officeDocument/2006/relationships/slide" Target="../slides/slide8.xml"  /><Relationship Id="rId2" Type="http://schemas.openxmlformats.org/officeDocument/2006/relationships/notesMaster" Target="../notesMasters/notesMaster1.xml"  /></Relationships>
</file>

<file path=ppt/notesSlides/_rels/notesSlide7.xml.rels><?xml version="1.0" encoding="UTF-8" standalone="yes" ?><Relationships xmlns="http://schemas.openxmlformats.org/package/2006/relationships"><Relationship Id="rId1" Type="http://schemas.openxmlformats.org/officeDocument/2006/relationships/slide" Target="../slides/slide9.xml"  /><Relationship Id="rId2" Type="http://schemas.openxmlformats.org/officeDocument/2006/relationships/notesMaster" Target="../notesMasters/notesMaster1.xml"  /></Relationships>
</file>

<file path=ppt/notesSlides/_rels/notesSlide8.xml.rels><?xml version="1.0" encoding="UTF-8" standalone="yes" ?><Relationships xmlns="http://schemas.openxmlformats.org/package/2006/relationships"><Relationship Id="rId1" Type="http://schemas.openxmlformats.org/officeDocument/2006/relationships/slide" Target="../slides/slide10.xml"  /><Relationship Id="rId2" Type="http://schemas.openxmlformats.org/officeDocument/2006/relationships/notesMaster" Target="../notesMasters/notesMaster1.xml"  /></Relationships>
</file>

<file path=ppt/notesSlides/_rels/notesSlide9.xml.rels><?xml version="1.0" encoding="UTF-8" standalone="yes" ?><Relationships xmlns="http://schemas.openxmlformats.org/package/2006/relationships"><Relationship Id="rId1" Type="http://schemas.openxmlformats.org/officeDocument/2006/relationships/slide" Target="../slides/slide11.xml"  /><Relationship Id="rId2" Type="http://schemas.openxmlformats.org/officeDocument/2006/relationships/notesMaster" Target="../notesMasters/notesMaster1.xml"  /></Relationships>
</file>

<file path=ppt/notesSlides/_rels/notesSlide10.xml.rels><?xml version="1.0" encoding="UTF-8" standalone="yes" ?><Relationships xmlns="http://schemas.openxmlformats.org/package/2006/relationships"><Relationship Id="rId1" Type="http://schemas.openxmlformats.org/officeDocument/2006/relationships/slide" Target="../slides/slide13.xml"  /><Relationship Id="rId2" Type="http://schemas.openxmlformats.org/officeDocument/2006/relationships/notesMaster" Target="../notesMasters/notesMaster1.xml"  /></Relationships>
</file>

<file path=ppt/notesSlides/notesSlide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윗부분은 클라우드 서비스 이용시 사용자가 직접 관리해야하는 영역</a:t>
            </a:r>
            <a:r>
              <a:rPr lang="en-US" altLang="ko-KR"/>
              <a:t>,</a:t>
            </a:r>
            <a:endParaRPr lang="en-US" altLang="ko-KR"/>
          </a:p>
          <a:p>
            <a:pPr>
              <a:defRPr/>
            </a:pPr>
            <a:r>
              <a:rPr lang="ko-KR" altLang="en-US"/>
              <a:t>밑부분은 클라우드 서비스 제공자가 제공하는 서비스영역</a:t>
            </a:r>
            <a:endParaRPr lang="ko-KR" altLang="en-US"/>
          </a:p>
          <a:p>
            <a:pPr>
              <a:defRPr/>
            </a:pPr>
            <a:r>
              <a:rPr lang="en-US" altLang="ko-KR"/>
              <a:t>PaaS:</a:t>
            </a:r>
            <a:r>
              <a:rPr lang="ko-KR" altLang="en-US"/>
              <a:t> 응용프로그램을 개발하기위한 개발할수있는 안정적인환경이주어짐</a:t>
            </a:r>
            <a:endParaRPr lang="ko-KR" altLang="en-US"/>
          </a:p>
        </p:txBody>
      </p:sp>
    </p:spTree>
  </p:cSld>
  <p:clrMapOvr>
    <a:masterClrMapping/>
  </p:clrMapOvr>
</p:notes>
</file>

<file path=ppt/notesSlides/notesSlide4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>
              <a:defRPr/>
            </a:pPr>
            <a:r>
              <a:rPr lang="en-US" altLang="ko-KR"/>
              <a:t>AWS</a:t>
            </a:r>
            <a:r>
              <a:rPr lang="ko-KR" altLang="en-US"/>
              <a:t>같은 경우 전세계에 인프라가 있으므로 사용자는 몇 분만에 전세계에 배포할수있음</a:t>
            </a:r>
            <a:endParaRPr lang="ko-KR" altLang="en-US"/>
          </a:p>
        </p:txBody>
      </p:sp>
    </p:spTree>
  </p:cSld>
  <p:clrMapOvr>
    <a:masterClrMapping/>
  </p:clrMapOvr>
</p:notes>
</file>

<file path=ppt/notesSlides/notesSlide5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노트 개체 틀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lang="ko-KR" altLang="en-US"/>
              <a:t>리전 </a:t>
            </a:r>
            <a:r>
              <a:rPr lang="en-US" altLang="ko-KR"/>
              <a:t>: </a:t>
            </a:r>
            <a:r>
              <a:rPr lang="ko-KR" altLang="en-US"/>
              <a:t>서버의 물리적위치</a:t>
            </a:r>
            <a:r>
              <a:rPr lang="en-US" altLang="ko-KR"/>
              <a:t>(</a:t>
            </a:r>
            <a:r>
              <a:rPr lang="ko-KR" altLang="en-US"/>
              <a:t>국가</a:t>
            </a:r>
            <a:r>
              <a:rPr lang="en-US" altLang="ko-KR"/>
              <a:t>)</a:t>
            </a:r>
            <a:endParaRPr lang="en-US" altLang="ko-KR"/>
          </a:p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lang="ko-KR" altLang="en-US"/>
              <a:t>가용 영역 </a:t>
            </a:r>
            <a:r>
              <a:rPr lang="en-US" altLang="ko-KR"/>
              <a:t>: </a:t>
            </a:r>
            <a:r>
              <a:rPr lang="ko-KR" altLang="en-US"/>
              <a:t>리전안에 있는 </a:t>
            </a:r>
            <a:r>
              <a:rPr lang="en-US" altLang="ko-KR"/>
              <a:t>IDC(</a:t>
            </a:r>
            <a:r>
              <a:rPr lang="ko-KR" altLang="en-US"/>
              <a:t>데이터 센터</a:t>
            </a:r>
            <a:r>
              <a:rPr lang="en-US" altLang="ko-KR"/>
              <a:t>)</a:t>
            </a:r>
            <a:endParaRPr lang="en-US" altLang="ko-KR"/>
          </a:p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lang="en-US" altLang="ko-KR"/>
          </a:p>
          <a:p>
            <a:pPr lvl="0">
              <a:defRPr/>
            </a:pPr>
            <a:endParaRPr lang="ko-KR" altLang="en-US"/>
          </a:p>
        </p:txBody>
      </p:sp>
    </p:spTree>
  </p:cSld>
  <p:clrMapOvr>
    <a:masterClrMapping/>
  </p:clrMapOvr>
</p:notes>
</file>

<file path=ppt/notesSlides/notesSlide6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>
              <a:defRPr/>
            </a:pPr>
            <a:r>
              <a:rPr lang="ko-KR" altLang="en-US"/>
              <a:t>가용성</a:t>
            </a:r>
            <a:r>
              <a:rPr lang="en-US" altLang="ko-KR"/>
              <a:t>:</a:t>
            </a:r>
            <a:r>
              <a:rPr lang="ko-KR" altLang="en-US"/>
              <a:t> 다음으로 큰 규모의 클라우드 공급업체보다 가동중단시간이 </a:t>
            </a:r>
            <a:r>
              <a:rPr lang="en-US" altLang="ko-KR"/>
              <a:t>7</a:t>
            </a:r>
            <a:r>
              <a:rPr lang="ko-KR" altLang="en-US"/>
              <a:t>배더낮음</a:t>
            </a:r>
            <a:endParaRPr lang="ko-KR" altLang="en-US"/>
          </a:p>
          <a:p>
            <a:pPr algn="ctr">
              <a:defRPr/>
            </a:pPr>
            <a:r>
              <a:rPr lang="ko-KR" altLang="en-US"/>
              <a:t>성능</a:t>
            </a:r>
            <a:r>
              <a:rPr lang="en-US" altLang="ko-KR"/>
              <a:t>:</a:t>
            </a:r>
            <a:r>
              <a:rPr lang="ko-KR" altLang="en-US"/>
              <a:t> 필요에따라 리소스를 빠르게구동하여 수백개</a:t>
            </a:r>
            <a:r>
              <a:rPr lang="en-US" altLang="ko-KR"/>
              <a:t>,</a:t>
            </a:r>
            <a:r>
              <a:rPr lang="ko-KR" altLang="en-US"/>
              <a:t> 수천개의 서버를 몇분만에 배포가능</a:t>
            </a:r>
            <a:endParaRPr lang="ko-KR" altLang="en-US"/>
          </a:p>
        </p:txBody>
      </p:sp>
    </p:spTree>
  </p:cSld>
  <p:clrMapOvr>
    <a:masterClrMapping/>
  </p:clrMapOvr>
</p:notes>
</file>

<file path=ppt/notesSlides/notesSlide7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8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9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10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노트 개체 틀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Aws</a:t>
            </a:r>
            <a:r>
              <a:rPr lang="ko-KR" altLang="en-US"/>
              <a:t>의 주력제품 클라우드 서비스</a:t>
            </a:r>
            <a:endParaRPr lang="ko-KR" altLang="en-US"/>
          </a:p>
          <a:p>
            <a:pPr lvl="0">
              <a:defRPr/>
            </a:pPr>
            <a:endParaRPr lang="ko-K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F573-BD5B-43B8-9E07-6E79B0E4165F}" type="datetime1">
              <a:rPr lang="ko-KR" altLang="en-US" smtClean="0"/>
              <a:t>2020-03-17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4239B-D302-47C8-870F-9A3CEECBE37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0D407-5F8C-4A92-B71A-AB78CB64B09E}" type="datetime1">
              <a:rPr lang="ko-KR" altLang="en-US" smtClean="0"/>
              <a:t>2020-03-17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4239B-D302-47C8-870F-9A3CEECBE37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7FD59-57B6-4DF0-8243-F83049FC989E}" type="datetime1">
              <a:rPr lang="ko-KR" altLang="en-US" smtClean="0"/>
              <a:t>2020-03-17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4239B-D302-47C8-870F-9A3CEECBE37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5512A-F75D-47F8-AE0A-008F04C8653D}" type="datetime1">
              <a:rPr lang="ko-KR" altLang="en-US" smtClean="0"/>
              <a:t>2020-03-17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4239B-D302-47C8-870F-9A3CEECBE37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4D551-BB91-4156-9CD1-14A4440A1B37}" type="datetime1">
              <a:rPr lang="ko-KR" altLang="en-US" smtClean="0"/>
              <a:t>2020-03-17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4239B-D302-47C8-870F-9A3CEECBE37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5E61B-A8A4-4FD3-BB7D-47B61F674A3A}" type="datetime1">
              <a:rPr lang="ko-KR" altLang="en-US" smtClean="0"/>
              <a:t>2020-03-17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4239B-D302-47C8-870F-9A3CEECBE37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FBA96-0434-4250-ABC8-F7B3FE1764EA}" type="datetime1">
              <a:rPr lang="ko-KR" altLang="en-US" smtClean="0"/>
              <a:t>2020-03-17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4239B-D302-47C8-870F-9A3CEECBE37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A8E28-BEED-4345-921A-44C95F14338D}" type="datetime1">
              <a:rPr lang="ko-KR" altLang="en-US" smtClean="0"/>
              <a:t>2020-03-17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4239B-D302-47C8-870F-9A3CEECBE37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5C58F-7189-4A13-B235-E0DCAEA14F6B}" type="datetime1">
              <a:rPr lang="ko-KR" altLang="en-US" smtClean="0"/>
              <a:t>2020-03-17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4239B-D302-47C8-870F-9A3CEECBE37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A29A1-5AB4-4DC7-B38D-695E82C1AD4B}" type="datetime1">
              <a:rPr lang="ko-KR" altLang="en-US" smtClean="0"/>
              <a:t>2020-03-17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4239B-D302-47C8-870F-9A3CEECBE37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551DD-4E81-4F09-B775-5137864929FC}" type="datetime1">
              <a:rPr lang="ko-KR" altLang="en-US" smtClean="0"/>
              <a:t>2020-03-17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4239B-D302-47C8-870F-9A3CEECBE37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64D4D8-6FED-4FB4-946D-85532A8B0B24}" type="datetime1">
              <a:rPr lang="ko-KR" altLang="en-US" smtClean="0"/>
              <a:t>2020-03-17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04239B-D302-47C8-870F-9A3CEECBE37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1.jpeg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notesSlide" Target="../notesSlides/notesSlide1.xml"  /><Relationship Id="rId3" Type="http://schemas.openxmlformats.org/officeDocument/2006/relationships/image" Target="../media/image2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notesSlide" Target="../notesSlides/notesSlide2.xml"  /><Relationship Id="rId3" Type="http://schemas.openxmlformats.org/officeDocument/2006/relationships/image" Target="../media/image3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3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4.pn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notesSlide" Target="../notesSlides/notesSlide4.xml"  /><Relationship Id="rId3" Type="http://schemas.openxmlformats.org/officeDocument/2006/relationships/image" Target="../media/image5.pn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notesSlide" Target="../notesSlides/notesSlide5.xml"  /><Relationship Id="rId3" Type="http://schemas.openxmlformats.org/officeDocument/2006/relationships/image" Target="../media/image6.pn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notesSlide" Target="../notesSlides/notesSlide6.xml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notesSlide" Target="../notesSlides/notesSlide7.xml"  /><Relationship Id="rId3" Type="http://schemas.openxmlformats.org/officeDocument/2006/relationships/image" Target="../media/image7.png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notesSlide" Target="../notesSlides/notesSlide8.xml"  /><Relationship Id="rId3" Type="http://schemas.openxmlformats.org/officeDocument/2006/relationships/image" Target="../media/image8.png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notesSlide" Target="../notesSlides/notesSlide9.xml"  /><Relationship Id="rId3" Type="http://schemas.openxmlformats.org/officeDocument/2006/relationships/image" Target="../media/image9.png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10.png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0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11.png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5" name="_x334641112" descr="EMB00004704372e"/>
          <p:cNvPicPr>
            <a:picLocks noChangeAspect="1" noChangeArrowheads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2516187" y="2234109"/>
            <a:ext cx="4111625" cy="3863975"/>
          </a:xfrm>
          <a:prstGeom prst="rect">
            <a:avLst/>
          </a:prstGeom>
          <a:noFill/>
        </p:spPr>
      </p:pic>
      <p:graphicFrame>
        <p:nvGraphicFramePr>
          <p:cNvPr id="3" name="표 2"/>
          <p:cNvGraphicFramePr>
            <a:graphicFrameLocks noGrp="1"/>
          </p:cNvGraphicFramePr>
          <p:nvPr/>
        </p:nvGraphicFramePr>
        <p:xfrm>
          <a:off x="1619672" y="986587"/>
          <a:ext cx="6022683" cy="1126744"/>
        </p:xfrm>
        <a:graphic>
          <a:graphicData uri="http://schemas.openxmlformats.org/drawingml/2006/table">
            <a:tbl>
              <a:tblGrid>
                <a:gridCol w="2852753"/>
                <a:gridCol w="377009"/>
                <a:gridCol w="2792921"/>
              </a:tblGrid>
              <a:tr h="75781">
                <a:tc gridSpan="2">
                  <a:txBody>
                    <a:bodyPr vert="horz" lIns="7239" tIns="7239" rIns="7239" bIns="7239" anchor="ctr" anchorCtr="0"/>
                    <a:p>
                      <a:pPr marL="0" marR="0" indent="0" algn="just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ko-KR" altLang="en-US" sz="100" kern="0" spc="0">
                        <a:solidFill>
                          <a:srgbClr val="000000"/>
                        </a:solidFill>
                        <a:effectLst/>
                        <a:latin typeface="바탕"/>
                      </a:endParaRPr>
                    </a:p>
                  </a:txBody>
                  <a:tcPr marL="7239" marR="7239" marT="7239" marB="72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b1045"/>
                    </a:solidFill>
                  </a:tcPr>
                </a:tc>
                <a:tc hMerge="1">
                  <a:txBody>
                    <a:bodyPr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>
                  <a:txBody>
                    <a:bodyPr vert="horz" lIns="7239" tIns="7239" rIns="7239" bIns="7239" anchor="ctr" anchorCtr="0"/>
                    <a:p>
                      <a:pPr marL="0" marR="0" indent="0" algn="just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ko-KR" altLang="en-US" sz="100" kern="0" spc="0">
                        <a:solidFill>
                          <a:srgbClr val="000000"/>
                        </a:solidFill>
                        <a:effectLst/>
                        <a:latin typeface="바탕"/>
                      </a:endParaRPr>
                    </a:p>
                  </a:txBody>
                  <a:tcPr marL="7239" marR="7239" marT="7239" marB="72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1a1a1"/>
                    </a:solidFill>
                  </a:tcPr>
                </a:tc>
              </a:tr>
              <a:tr h="772404">
                <a:tc gridSpan="3">
                  <a:txBody>
                    <a:bodyPr vert="horz" lIns="64769" tIns="17907" rIns="64769" bIns="17907" anchor="ctr" anchorCtr="0"/>
                    <a:p>
                      <a:pPr marL="0" marR="0" indent="0" algn="ctr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altLang="ko-KR" sz="3500" b="1" kern="0" spc="0">
                          <a:solidFill>
                            <a:srgbClr val="000000"/>
                          </a:solidFill>
                          <a:effectLst/>
                          <a:latin typeface="KoPub돋움체_Pro Bold"/>
                          <a:ea typeface="KoPub돋움체_Pro Bold"/>
                          <a:cs typeface="Calibri"/>
                        </a:rPr>
                        <a:t>AWS(Amazon Web Service)</a:t>
                      </a:r>
                      <a:endParaRPr lang="ko-KR" altLang="en-US" sz="3500" b="1" kern="0" spc="0">
                        <a:solidFill>
                          <a:srgbClr val="000000"/>
                        </a:solidFill>
                        <a:effectLst/>
                        <a:latin typeface="KoPub돋움체_Pro Bold"/>
                        <a:ea typeface="KoPub돋움체_Pro Bold"/>
                        <a:cs typeface="Calibri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</a:tr>
              <a:tr h="75781">
                <a:tc>
                  <a:txBody>
                    <a:bodyPr vert="horz" lIns="7239" tIns="7239" rIns="7239" bIns="7239" anchor="ctr" anchorCtr="0"/>
                    <a:p>
                      <a:pPr marL="0" marR="0" indent="0" algn="just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ko-KR" altLang="en-US" sz="100" b="1" kern="0" spc="0">
                        <a:solidFill>
                          <a:srgbClr val="000000"/>
                        </a:solidFill>
                        <a:effectLst/>
                        <a:latin typeface="바탕"/>
                      </a:endParaRPr>
                    </a:p>
                  </a:txBody>
                  <a:tcPr marL="7239" marR="7239" marT="7239" marB="72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1a1a1"/>
                    </a:solidFill>
                  </a:tcPr>
                </a:tc>
                <a:tc gridSpan="2">
                  <a:txBody>
                    <a:bodyPr vert="horz" lIns="7239" tIns="7239" rIns="7239" bIns="7239" anchor="ctr" anchorCtr="0"/>
                    <a:p>
                      <a:pPr marL="0" marR="0" indent="0" algn="just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" b="1" kern="0" spc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1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바탕"/>
                      </a:endParaRPr>
                    </a:p>
                  </a:txBody>
                  <a:tcPr marL="7239" marR="7239" marT="7239" marB="72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b1045"/>
                    </a:solidFill>
                  </a:tcPr>
                </a:tc>
                <a:tc hMerge="1">
                  <a:txBody>
                    <a:bodyPr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0" y="6534835"/>
            <a:ext cx="4111625" cy="3117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500">
                <a:latin typeface="KoPub돋움체_Pro Bold"/>
                <a:ea typeface="KoPub돋움체_Pro Bold"/>
              </a:rPr>
              <a:t>충북대학교 </a:t>
            </a:r>
            <a:r>
              <a:rPr lang="en-US" altLang="ko-KR" sz="1500">
                <a:latin typeface="KoPub돋움체_Pro Bold"/>
                <a:ea typeface="KoPub돋움체_Pro Bold"/>
              </a:rPr>
              <a:t>SW</a:t>
            </a:r>
            <a:r>
              <a:rPr lang="ko-KR" altLang="en-US" sz="1500">
                <a:latin typeface="KoPub돋움체_Pro Bold"/>
                <a:ea typeface="KoPub돋움체_Pro Bold"/>
              </a:rPr>
              <a:t>중심대학사업단</a:t>
            </a:r>
            <a:endParaRPr lang="ko-KR" altLang="en-US" sz="1500">
              <a:latin typeface="KoPub돋움체_Pro Bold"/>
              <a:ea typeface="KoPub돋움체_Pro Bold"/>
            </a:endParaRPr>
          </a:p>
        </p:txBody>
      </p:sp>
      <p:sp>
        <p:nvSpPr>
          <p:cNvPr id="4" name="사각형: 둥근 모서리 3"/>
          <p:cNvSpPr/>
          <p:nvPr/>
        </p:nvSpPr>
        <p:spPr>
          <a:xfrm>
            <a:off x="323528" y="188640"/>
            <a:ext cx="8496944" cy="6346195"/>
          </a:xfrm>
          <a:prstGeom prst="roundRect">
            <a:avLst>
              <a:gd name="adj" fmla="val 16667"/>
            </a:avLst>
          </a:prstGeom>
          <a:noFill/>
          <a:ln>
            <a:solidFill>
              <a:srgbClr val="90400e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6732240" y="5574864"/>
            <a:ext cx="312876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400"/>
              <a:t>2015040017 </a:t>
            </a:r>
            <a:r>
              <a:rPr lang="ko-KR" altLang="en-US" sz="1400"/>
              <a:t>정택민</a:t>
            </a:r>
            <a:endParaRPr lang="ko-KR" altLang="en-US" sz="1400"/>
          </a:p>
          <a:p>
            <a:pPr lvl="0">
              <a:defRPr/>
            </a:pPr>
            <a:r>
              <a:rPr lang="en-US" altLang="ko-KR" sz="1400"/>
              <a:t>2017035208 </a:t>
            </a:r>
            <a:r>
              <a:rPr lang="ko-KR" altLang="en-US" sz="1400"/>
              <a:t>곽나경</a:t>
            </a:r>
            <a:endParaRPr lang="ko-KR" altLang="en-US" sz="14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직사각형 31"/>
          <p:cNvSpPr/>
          <p:nvPr/>
        </p:nvSpPr>
        <p:spPr>
          <a:xfrm>
            <a:off x="0" y="-16478"/>
            <a:ext cx="9144000" cy="6858000"/>
          </a:xfrm>
          <a:prstGeom prst="rect">
            <a:avLst/>
          </a:prstGeom>
          <a:solidFill>
            <a:srgbClr val="0C27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a옛날목욕탕L" panose="02020600000000000000" pitchFamily="18" charset="-127"/>
              <a:ea typeface="a옛날목욕탕L" panose="02020600000000000000" pitchFamily="18" charset="-127"/>
            </a:endParaRPr>
          </a:p>
        </p:txBody>
      </p:sp>
      <p:cxnSp>
        <p:nvCxnSpPr>
          <p:cNvPr id="41" name="직선 연결선 40"/>
          <p:cNvCxnSpPr>
            <a:cxnSpLocks/>
          </p:cNvCxnSpPr>
          <p:nvPr/>
        </p:nvCxnSpPr>
        <p:spPr>
          <a:xfrm>
            <a:off x="2389236" y="2807744"/>
            <a:ext cx="403244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3797114" y="5081636"/>
            <a:ext cx="576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5400" dirty="0">
              <a:solidFill>
                <a:schemeClr val="bg1"/>
              </a:solidFill>
              <a:latin typeface="a옛날목욕탕L" panose="02020600000000000000" pitchFamily="18" charset="-127"/>
              <a:ea typeface="a옛날목욕탕L" panose="02020600000000000000" pitchFamily="18" charset="-127"/>
            </a:endParaRPr>
          </a:p>
        </p:txBody>
      </p:sp>
      <p:cxnSp>
        <p:nvCxnSpPr>
          <p:cNvPr id="65" name="직선 연결선 64"/>
          <p:cNvCxnSpPr>
            <a:cxnSpLocks/>
          </p:cNvCxnSpPr>
          <p:nvPr/>
        </p:nvCxnSpPr>
        <p:spPr>
          <a:xfrm>
            <a:off x="2356464" y="5058615"/>
            <a:ext cx="403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그룹 76"/>
          <p:cNvGrpSpPr/>
          <p:nvPr/>
        </p:nvGrpSpPr>
        <p:grpSpPr>
          <a:xfrm>
            <a:off x="-1643212" y="2209208"/>
            <a:ext cx="4032448" cy="1368152"/>
            <a:chOff x="-2196872" y="1400107"/>
            <a:chExt cx="4032448" cy="1368152"/>
          </a:xfrm>
        </p:grpSpPr>
        <p:sp>
          <p:nvSpPr>
            <p:cNvPr id="39" name="TextBox 38"/>
            <p:cNvSpPr txBox="1"/>
            <p:nvPr/>
          </p:nvSpPr>
          <p:spPr>
            <a:xfrm>
              <a:off x="-2196872" y="1844929"/>
              <a:ext cx="576000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altLang="ko-KR" sz="5400" dirty="0">
                <a:solidFill>
                  <a:srgbClr val="0C2759"/>
                </a:solidFill>
                <a:latin typeface="a옛날목욕탕L" panose="02020600000000000000" pitchFamily="18" charset="-127"/>
                <a:ea typeface="a옛날목욕탕L" panose="02020600000000000000" pitchFamily="18" charset="-127"/>
              </a:endParaRPr>
            </a:p>
          </p:txBody>
        </p:sp>
        <p:sp>
          <p:nvSpPr>
            <p:cNvPr id="73" name="이등변 삼각형 72"/>
            <p:cNvSpPr/>
            <p:nvPr/>
          </p:nvSpPr>
          <p:spPr>
            <a:xfrm>
              <a:off x="1403528" y="1400107"/>
              <a:ext cx="432048" cy="360040"/>
            </a:xfrm>
            <a:prstGeom prst="triangle">
              <a:avLst>
                <a:gd name="adj" fmla="val 10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a옛날목욕탕L" panose="02020600000000000000" pitchFamily="18" charset="-127"/>
                <a:ea typeface="a옛날목욕탕L" panose="02020600000000000000" pitchFamily="18" charset="-127"/>
              </a:endParaRPr>
            </a:p>
          </p:txBody>
        </p:sp>
      </p:grpSp>
      <p:cxnSp>
        <p:nvCxnSpPr>
          <p:cNvPr id="83" name="직선 연결선 82"/>
          <p:cNvCxnSpPr>
            <a:cxnSpLocks/>
          </p:cNvCxnSpPr>
          <p:nvPr/>
        </p:nvCxnSpPr>
        <p:spPr>
          <a:xfrm>
            <a:off x="2356464" y="3978495"/>
            <a:ext cx="403244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361680" y="763446"/>
            <a:ext cx="410445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solidFill>
                  <a:srgbClr val="F33A24"/>
                </a:solidFill>
                <a:latin typeface="KoPub돋움체_Pro Bold" panose="00000800000000000000" pitchFamily="50" charset="-127"/>
                <a:ea typeface="KoPub돋움체_Pro Bold" panose="00000800000000000000" pitchFamily="50" charset="-127"/>
              </a:rPr>
              <a:t>INDEX</a:t>
            </a:r>
          </a:p>
        </p:txBody>
      </p:sp>
      <p:grpSp>
        <p:nvGrpSpPr>
          <p:cNvPr id="5" name="그룹 96"/>
          <p:cNvGrpSpPr/>
          <p:nvPr/>
        </p:nvGrpSpPr>
        <p:grpSpPr>
          <a:xfrm>
            <a:off x="2990702" y="757486"/>
            <a:ext cx="526406" cy="623691"/>
            <a:chOff x="3347862" y="3212974"/>
            <a:chExt cx="526406" cy="623691"/>
          </a:xfrm>
        </p:grpSpPr>
        <p:cxnSp>
          <p:nvCxnSpPr>
            <p:cNvPr id="94" name="직선 연결선 93"/>
            <p:cNvCxnSpPr/>
            <p:nvPr/>
          </p:nvCxnSpPr>
          <p:spPr>
            <a:xfrm>
              <a:off x="3563888" y="3260601"/>
              <a:ext cx="0" cy="576064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5" name="이등변 삼각형 94"/>
            <p:cNvSpPr/>
            <p:nvPr/>
          </p:nvSpPr>
          <p:spPr>
            <a:xfrm rot="5400000">
              <a:off x="3539057" y="3237805"/>
              <a:ext cx="360041" cy="310380"/>
            </a:xfrm>
            <a:prstGeom prst="triangle">
              <a:avLst/>
            </a:prstGeom>
            <a:solidFill>
              <a:schemeClr val="bg1">
                <a:alpha val="7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옛날목욕탕L" panose="02020600000000000000" pitchFamily="18" charset="-127"/>
                <a:ea typeface="a옛날목욕탕L" panose="02020600000000000000" pitchFamily="18" charset="-127"/>
              </a:endParaRPr>
            </a:p>
          </p:txBody>
        </p:sp>
        <p:sp>
          <p:nvSpPr>
            <p:cNvPr id="96" name="이등변 삼각형 95"/>
            <p:cNvSpPr/>
            <p:nvPr/>
          </p:nvSpPr>
          <p:spPr>
            <a:xfrm rot="16200000">
              <a:off x="3330580" y="3406383"/>
              <a:ext cx="250590" cy="216026"/>
            </a:xfrm>
            <a:prstGeom prst="triangle">
              <a:avLst/>
            </a:prstGeom>
            <a:solidFill>
              <a:srgbClr val="F33A24">
                <a:alpha val="78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옛날목욕탕L" panose="02020600000000000000" pitchFamily="18" charset="-127"/>
                <a:ea typeface="a옛날목욕탕L" panose="02020600000000000000" pitchFamily="18" charset="-127"/>
              </a:endParaRPr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0247C421-D27D-4CC7-A51E-14009E647F78}"/>
              </a:ext>
            </a:extLst>
          </p:cNvPr>
          <p:cNvSpPr txBox="1"/>
          <p:nvPr/>
        </p:nvSpPr>
        <p:spPr>
          <a:xfrm>
            <a:off x="3042250" y="4409278"/>
            <a:ext cx="3600344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500" dirty="0">
                <a:solidFill>
                  <a:schemeClr val="bg1"/>
                </a:solidFill>
                <a:latin typeface="KoPub돋움체_Pro Bold" panose="00000800000000000000" pitchFamily="50" charset="-127"/>
                <a:ea typeface="KoPub돋움체_Pro Bold" panose="00000800000000000000" pitchFamily="50" charset="-127"/>
              </a:rPr>
              <a:t>AWS </a:t>
            </a:r>
            <a:r>
              <a:rPr lang="ko-KR" altLang="en-US" sz="2500" dirty="0">
                <a:solidFill>
                  <a:schemeClr val="bg1"/>
                </a:solidFill>
                <a:latin typeface="KoPub돋움체_Pro Bold" panose="00000800000000000000" pitchFamily="50" charset="-127"/>
                <a:ea typeface="KoPub돋움체_Pro Bold" panose="00000800000000000000" pitchFamily="50" charset="-127"/>
              </a:rPr>
              <a:t>특징</a:t>
            </a:r>
            <a:endParaRPr lang="en-US" altLang="ko-KR" sz="2500" dirty="0">
              <a:solidFill>
                <a:schemeClr val="bg1"/>
              </a:solidFill>
              <a:latin typeface="KoPub돋움체_Pro Bold" panose="00000800000000000000" pitchFamily="50" charset="-127"/>
              <a:ea typeface="KoPub돋움체_Pro Bold" panose="00000800000000000000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464782" y="1905942"/>
            <a:ext cx="576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dirty="0">
                <a:solidFill>
                  <a:schemeClr val="bg1"/>
                </a:solidFill>
                <a:latin typeface="a옛날목욕탕L" panose="02020600000000000000" pitchFamily="18" charset="-127"/>
                <a:ea typeface="a옛날목욕탕L" panose="02020600000000000000" pitchFamily="18" charset="-127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64782" y="3012340"/>
            <a:ext cx="576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dirty="0">
                <a:solidFill>
                  <a:schemeClr val="bg1"/>
                </a:solidFill>
                <a:latin typeface="a옛날목욕탕L" panose="02020600000000000000" pitchFamily="18" charset="-127"/>
                <a:ea typeface="a옛날목욕탕L" panose="02020600000000000000" pitchFamily="18" charset="-127"/>
              </a:rPr>
              <a:t>2</a:t>
            </a:r>
          </a:p>
        </p:txBody>
      </p:sp>
      <p:sp>
        <p:nvSpPr>
          <p:cNvPr id="33" name="이등변 삼각형 32"/>
          <p:cNvSpPr/>
          <p:nvPr/>
        </p:nvSpPr>
        <p:spPr>
          <a:xfrm>
            <a:off x="1924472" y="3353521"/>
            <a:ext cx="432048" cy="360040"/>
          </a:xfrm>
          <a:prstGeom prst="triangle">
            <a:avLst>
              <a:gd name="adj" fmla="val 10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a옛날목욕탕L" panose="02020600000000000000" pitchFamily="18" charset="-127"/>
              <a:ea typeface="a옛날목욕탕L" panose="02020600000000000000" pitchFamily="18" charset="-127"/>
            </a:endParaRPr>
          </a:p>
        </p:txBody>
      </p:sp>
      <p:sp>
        <p:nvSpPr>
          <p:cNvPr id="34" name="이등변 삼각형 33"/>
          <p:cNvSpPr/>
          <p:nvPr/>
        </p:nvSpPr>
        <p:spPr>
          <a:xfrm>
            <a:off x="1924472" y="4499391"/>
            <a:ext cx="415280" cy="360040"/>
          </a:xfrm>
          <a:prstGeom prst="triangle">
            <a:avLst>
              <a:gd name="adj" fmla="val 10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a옛날목욕탕L" panose="02020600000000000000" pitchFamily="18" charset="-127"/>
              <a:ea typeface="a옛날목욕탕L" panose="02020600000000000000" pitchFamily="18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247C421-D27D-4CC7-A51E-14009E647F78}"/>
              </a:ext>
            </a:extLst>
          </p:cNvPr>
          <p:cNvSpPr txBox="1"/>
          <p:nvPr/>
        </p:nvSpPr>
        <p:spPr>
          <a:xfrm>
            <a:off x="2987824" y="2148251"/>
            <a:ext cx="4248472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500" dirty="0">
                <a:solidFill>
                  <a:schemeClr val="bg1"/>
                </a:solidFill>
                <a:latin typeface="KoPub돋움체_Pro Bold" panose="00000800000000000000" pitchFamily="50" charset="-127"/>
                <a:ea typeface="KoPub돋움체_Pro Bold" panose="00000800000000000000" pitchFamily="50" charset="-127"/>
              </a:rPr>
              <a:t>클라우드 컴퓨팅이란</a:t>
            </a:r>
            <a:r>
              <a:rPr lang="en-US" altLang="ko-KR" sz="2500" dirty="0">
                <a:solidFill>
                  <a:schemeClr val="bg1"/>
                </a:solidFill>
                <a:latin typeface="KoPub돋움체_Pro Bold" panose="00000800000000000000" pitchFamily="50" charset="-127"/>
                <a:ea typeface="KoPub돋움체_Pro Bold" panose="00000800000000000000" pitchFamily="50" charset="-127"/>
              </a:rPr>
              <a:t>?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D0B7781-4127-4AA1-A2C6-8C51B8B94719}"/>
              </a:ext>
            </a:extLst>
          </p:cNvPr>
          <p:cNvSpPr txBox="1"/>
          <p:nvPr/>
        </p:nvSpPr>
        <p:spPr>
          <a:xfrm>
            <a:off x="35496" y="6396261"/>
            <a:ext cx="411162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dirty="0">
                <a:solidFill>
                  <a:schemeClr val="bg1"/>
                </a:solidFill>
                <a:latin typeface="KoPub돋움체_Pro Bold" panose="00000800000000000000" pitchFamily="50" charset="-127"/>
                <a:ea typeface="KoPub돋움체_Pro Bold" panose="00000800000000000000" pitchFamily="50" charset="-127"/>
              </a:rPr>
              <a:t>충북대학교 </a:t>
            </a:r>
            <a:r>
              <a:rPr lang="en-US" altLang="ko-KR" sz="1500" dirty="0">
                <a:solidFill>
                  <a:schemeClr val="bg1"/>
                </a:solidFill>
                <a:latin typeface="KoPub돋움체_Pro Bold" panose="00000800000000000000" pitchFamily="50" charset="-127"/>
                <a:ea typeface="KoPub돋움체_Pro Bold" panose="00000800000000000000" pitchFamily="50" charset="-127"/>
              </a:rPr>
              <a:t>SW</a:t>
            </a:r>
            <a:r>
              <a:rPr lang="ko-KR" altLang="en-US" sz="1500" dirty="0">
                <a:solidFill>
                  <a:schemeClr val="bg1"/>
                </a:solidFill>
                <a:latin typeface="KoPub돋움체_Pro Bold" panose="00000800000000000000" pitchFamily="50" charset="-127"/>
                <a:ea typeface="KoPub돋움체_Pro Bold" panose="00000800000000000000" pitchFamily="50" charset="-127"/>
              </a:rPr>
              <a:t>중심대학사업단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ED27730-AECF-4486-80CF-EFED2E2533AA}"/>
              </a:ext>
            </a:extLst>
          </p:cNvPr>
          <p:cNvSpPr txBox="1"/>
          <p:nvPr/>
        </p:nvSpPr>
        <p:spPr>
          <a:xfrm>
            <a:off x="2987824" y="3275255"/>
            <a:ext cx="3600344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500" dirty="0">
                <a:solidFill>
                  <a:schemeClr val="bg1"/>
                </a:solidFill>
                <a:latin typeface="KoPub돋움체_Pro Bold" panose="00000800000000000000" pitchFamily="50" charset="-127"/>
                <a:ea typeface="KoPub돋움체_Pro Bold" panose="00000800000000000000" pitchFamily="50" charset="-127"/>
              </a:rPr>
              <a:t>AWS </a:t>
            </a:r>
            <a:r>
              <a:rPr lang="ko-KR" altLang="en-US" sz="2500" dirty="0">
                <a:solidFill>
                  <a:schemeClr val="bg1"/>
                </a:solidFill>
                <a:latin typeface="KoPub돋움체_Pro Bold" panose="00000800000000000000" pitchFamily="50" charset="-127"/>
                <a:ea typeface="KoPub돋움체_Pro Bold" panose="00000800000000000000" pitchFamily="50" charset="-127"/>
              </a:rPr>
              <a:t>소개</a:t>
            </a:r>
            <a:endParaRPr lang="en-US" altLang="ko-KR" sz="2500" dirty="0">
              <a:solidFill>
                <a:schemeClr val="bg1"/>
              </a:solidFill>
              <a:latin typeface="KoPub돋움체_Pro Bold" panose="00000800000000000000" pitchFamily="50" charset="-127"/>
              <a:ea typeface="KoPub돋움체_Pro Bold" panose="00000800000000000000" pitchFamily="50" charset="-127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B134023-BD2A-47E2-AEDD-9BAEA40AABE5}"/>
              </a:ext>
            </a:extLst>
          </p:cNvPr>
          <p:cNvSpPr txBox="1"/>
          <p:nvPr/>
        </p:nvSpPr>
        <p:spPr>
          <a:xfrm>
            <a:off x="2464782" y="4155488"/>
            <a:ext cx="576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dirty="0">
                <a:solidFill>
                  <a:schemeClr val="bg1"/>
                </a:solidFill>
                <a:latin typeface="a옛날목욕탕L" panose="02020600000000000000" pitchFamily="18" charset="-127"/>
                <a:ea typeface="a옛날목욕탕L" panose="02020600000000000000" pitchFamily="18" charset="-127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5686369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직사각형 104"/>
          <p:cNvSpPr/>
          <p:nvPr/>
        </p:nvSpPr>
        <p:spPr>
          <a:xfrm>
            <a:off x="8172400" y="0"/>
            <a:ext cx="792088" cy="1844824"/>
          </a:xfrm>
          <a:prstGeom prst="rect">
            <a:avLst/>
          </a:prstGeom>
          <a:solidFill>
            <a:srgbClr val="0C27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a옛날목욕탕L" panose="02020600000000000000" pitchFamily="18" charset="-127"/>
              <a:ea typeface="a옛날목욕탕L" panose="02020600000000000000" pitchFamily="18" charset="-127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34718" y="527474"/>
            <a:ext cx="5389410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rgbClr val="0C2759"/>
                </a:solidFill>
                <a:latin typeface="+mj-lt"/>
                <a:ea typeface="a옛날목욕탕L" panose="02020600000000000000" pitchFamily="18" charset="-127"/>
              </a:rPr>
              <a:t>1.1 </a:t>
            </a:r>
            <a:r>
              <a:rPr lang="ko-KR" altLang="en-US" sz="3200" b="1" dirty="0">
                <a:solidFill>
                  <a:srgbClr val="0C2759"/>
                </a:solidFill>
                <a:latin typeface="+mj-lt"/>
                <a:ea typeface="a옛날목욕탕L" panose="02020600000000000000" pitchFamily="18" charset="-127"/>
              </a:rPr>
              <a:t>클라우드 컴퓨팅의 정의</a:t>
            </a:r>
            <a:endParaRPr lang="en-US" altLang="ko-KR" sz="3200" b="1" dirty="0">
              <a:solidFill>
                <a:srgbClr val="0C2759"/>
              </a:solidFill>
              <a:latin typeface="+mj-lt"/>
              <a:ea typeface="a옛날목욕탕L" panose="02020600000000000000" pitchFamily="18" charset="-127"/>
            </a:endParaRPr>
          </a:p>
        </p:txBody>
      </p:sp>
      <p:cxnSp>
        <p:nvCxnSpPr>
          <p:cNvPr id="39" name="직선 연결선 38"/>
          <p:cNvCxnSpPr>
            <a:cxnSpLocks/>
          </p:cNvCxnSpPr>
          <p:nvPr/>
        </p:nvCxnSpPr>
        <p:spPr>
          <a:xfrm flipH="1">
            <a:off x="340597" y="1268760"/>
            <a:ext cx="7740892" cy="0"/>
          </a:xfrm>
          <a:prstGeom prst="line">
            <a:avLst/>
          </a:prstGeom>
          <a:ln>
            <a:solidFill>
              <a:srgbClr val="0C2759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CFCF75DC-66D0-4E0E-962A-101C31FCC982}"/>
              </a:ext>
            </a:extLst>
          </p:cNvPr>
          <p:cNvSpPr/>
          <p:nvPr/>
        </p:nvSpPr>
        <p:spPr>
          <a:xfrm>
            <a:off x="603000" y="4792407"/>
            <a:ext cx="8083800" cy="1593665"/>
          </a:xfrm>
          <a:prstGeom prst="roundRect">
            <a:avLst/>
          </a:prstGeom>
          <a:solidFill>
            <a:srgbClr val="0C27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옛날목욕탕L" panose="02020600000000000000" pitchFamily="18" charset="-127"/>
              <a:ea typeface="a옛날목욕탕L" panose="02020600000000000000" pitchFamily="18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5431E30-16C2-47C8-AFC1-8E9077BB7DE8}"/>
              </a:ext>
            </a:extLst>
          </p:cNvPr>
          <p:cNvSpPr txBox="1"/>
          <p:nvPr/>
        </p:nvSpPr>
        <p:spPr>
          <a:xfrm>
            <a:off x="814729" y="4958297"/>
            <a:ext cx="7660341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ea typeface="KoPub돋움체_Pro Bold" panose="00000800000000000000" pitchFamily="50" charset="-127"/>
              </a:rPr>
              <a:t>클라우드 컴퓨팅</a:t>
            </a:r>
            <a:endParaRPr lang="en-US" altLang="ko-KR" sz="2400" b="1" dirty="0">
              <a:solidFill>
                <a:schemeClr val="bg1"/>
              </a:solidFill>
              <a:ea typeface="KoPub돋움체_Pro Bold" panose="00000800000000000000" pitchFamily="50" charset="-127"/>
            </a:endParaRPr>
          </a:p>
          <a:p>
            <a:endParaRPr lang="en-US" altLang="ko-KR" sz="1200" dirty="0">
              <a:solidFill>
                <a:schemeClr val="bg1"/>
              </a:solidFill>
              <a:ea typeface="KoPub돋움체_Pro Bold" panose="00000800000000000000" pitchFamily="50" charset="-127"/>
            </a:endParaRPr>
          </a:p>
          <a:p>
            <a:r>
              <a:rPr lang="ko-KR" altLang="en-US" sz="2000" dirty="0">
                <a:solidFill>
                  <a:schemeClr val="bg1"/>
                </a:solidFill>
              </a:rPr>
              <a:t>정보가 인터넷 상의 서버에 영구적으로 저장되고</a:t>
            </a:r>
            <a:r>
              <a:rPr lang="en-US" altLang="ko-KR" sz="2000" dirty="0">
                <a:solidFill>
                  <a:schemeClr val="bg1"/>
                </a:solidFill>
              </a:rPr>
              <a:t>, </a:t>
            </a:r>
            <a:r>
              <a:rPr lang="ko-KR" altLang="en-US" sz="2000" dirty="0">
                <a:solidFill>
                  <a:schemeClr val="bg1"/>
                </a:solidFill>
              </a:rPr>
              <a:t>클라이언트에는 일시적으로 보관되는 컴퓨터 환경</a:t>
            </a:r>
            <a:endParaRPr lang="en-US" altLang="ko-KR" sz="2000" dirty="0">
              <a:solidFill>
                <a:schemeClr val="bg1"/>
              </a:solidFill>
              <a:ea typeface="KoPub돋움체_Pro Bold" panose="00000800000000000000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6153ADD-044A-412B-B7C7-BF1A8FCF4B02}"/>
              </a:ext>
            </a:extLst>
          </p:cNvPr>
          <p:cNvSpPr txBox="1"/>
          <p:nvPr/>
        </p:nvSpPr>
        <p:spPr>
          <a:xfrm>
            <a:off x="0" y="6534835"/>
            <a:ext cx="411162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dirty="0">
                <a:solidFill>
                  <a:schemeClr val="bg1">
                    <a:lumMod val="50000"/>
                  </a:schemeClr>
                </a:solidFill>
                <a:latin typeface="KoPub돋움체_Pro Bold" panose="00000800000000000000" pitchFamily="50" charset="-127"/>
                <a:ea typeface="KoPub돋움체_Pro Bold" panose="00000800000000000000" pitchFamily="50" charset="-127"/>
              </a:rPr>
              <a:t>충북대학교 </a:t>
            </a:r>
            <a:r>
              <a:rPr lang="en-US" altLang="ko-KR" sz="1500" dirty="0">
                <a:solidFill>
                  <a:schemeClr val="bg1">
                    <a:lumMod val="50000"/>
                  </a:schemeClr>
                </a:solidFill>
                <a:latin typeface="KoPub돋움체_Pro Bold" panose="00000800000000000000" pitchFamily="50" charset="-127"/>
                <a:ea typeface="KoPub돋움체_Pro Bold" panose="00000800000000000000" pitchFamily="50" charset="-127"/>
              </a:rPr>
              <a:t>SW</a:t>
            </a:r>
            <a:r>
              <a:rPr lang="ko-KR" altLang="en-US" sz="1500" dirty="0">
                <a:solidFill>
                  <a:schemeClr val="bg1">
                    <a:lumMod val="50000"/>
                  </a:schemeClr>
                </a:solidFill>
                <a:latin typeface="KoPub돋움체_Pro Bold" panose="00000800000000000000" pitchFamily="50" charset="-127"/>
                <a:ea typeface="KoPub돋움체_Pro Bold" panose="00000800000000000000" pitchFamily="50" charset="-127"/>
              </a:rPr>
              <a:t>중심대학사업단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670E2AAE-AE1F-486D-968A-C387C15FE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520259"/>
            <a:ext cx="2133600" cy="365125"/>
          </a:xfrm>
        </p:spPr>
        <p:txBody>
          <a:bodyPr/>
          <a:lstStyle/>
          <a:p>
            <a:fld id="{7804239B-D302-47C8-870F-9A3CEECBE377}" type="slidenum">
              <a:rPr lang="ko-KR" altLang="en-US" b="1" smtClean="0">
                <a:solidFill>
                  <a:schemeClr val="bg1">
                    <a:lumMod val="50000"/>
                  </a:schemeClr>
                </a:solidFill>
                <a:latin typeface="KoPub돋움체_Pro Bold" panose="00000800000000000000" pitchFamily="50" charset="-127"/>
                <a:ea typeface="KoPub돋움체_Pro Bold" panose="00000800000000000000" pitchFamily="50" charset="-127"/>
              </a:rPr>
              <a:pPr/>
              <a:t>2</a:t>
            </a:fld>
            <a:endParaRPr lang="ko-KR" altLang="en-US" b="1" dirty="0">
              <a:solidFill>
                <a:schemeClr val="bg1">
                  <a:lumMod val="50000"/>
                </a:schemeClr>
              </a:solidFill>
              <a:latin typeface="KoPub돋움체_Pro Bold" panose="00000800000000000000" pitchFamily="50" charset="-127"/>
              <a:ea typeface="KoPub돋움체_Pro Bold" panose="00000800000000000000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EA0A3D1-7B0C-45C4-949E-B492EE2FA9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0648" y="1725428"/>
            <a:ext cx="4682703" cy="2889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67839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그림 108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78033" y="1844824"/>
            <a:ext cx="7972425" cy="3944022"/>
          </a:xfrm>
          <a:prstGeom prst="rect">
            <a:avLst/>
          </a:prstGeom>
        </p:spPr>
      </p:pic>
      <p:sp>
        <p:nvSpPr>
          <p:cNvPr id="105" name="직사각형 104"/>
          <p:cNvSpPr/>
          <p:nvPr/>
        </p:nvSpPr>
        <p:spPr>
          <a:xfrm>
            <a:off x="8172400" y="0"/>
            <a:ext cx="792088" cy="1844824"/>
          </a:xfrm>
          <a:prstGeom prst="rect">
            <a:avLst/>
          </a:prstGeom>
          <a:solidFill>
            <a:srgbClr val="0C27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dirty="0">
              <a:latin typeface="a옛날목욕탕L"/>
              <a:ea typeface="a옛날목욕탕L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69150" y="442389"/>
            <a:ext cx="6363090" cy="58477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3200" b="1" dirty="0">
                <a:solidFill>
                  <a:srgbClr val="0C2759"/>
                </a:solidFill>
                <a:latin typeface="a옛날목욕탕L"/>
                <a:ea typeface="a옛날목욕탕L"/>
              </a:rPr>
              <a:t>1.2 </a:t>
            </a:r>
            <a:r>
              <a:rPr lang="ko-KR" altLang="en-US" sz="3200" b="1" dirty="0">
                <a:solidFill>
                  <a:srgbClr val="0C2759"/>
                </a:solidFill>
                <a:latin typeface="a옛날목욕탕L"/>
                <a:ea typeface="a옛날목욕탕L"/>
              </a:rPr>
              <a:t>클라우드 컴퓨팅의 등장 배경</a:t>
            </a:r>
            <a:endParaRPr lang="en-US" altLang="ko-KR" sz="3200" b="1" dirty="0">
              <a:solidFill>
                <a:srgbClr val="0C2759"/>
              </a:solidFill>
              <a:latin typeface="a옛날목욕탕L"/>
              <a:ea typeface="a옛날목욕탕L"/>
            </a:endParaRPr>
          </a:p>
        </p:txBody>
      </p:sp>
      <p:cxnSp>
        <p:nvCxnSpPr>
          <p:cNvPr id="39" name="직선 연결선 38"/>
          <p:cNvCxnSpPr/>
          <p:nvPr/>
        </p:nvCxnSpPr>
        <p:spPr>
          <a:xfrm flipH="1">
            <a:off x="340597" y="1268760"/>
            <a:ext cx="7740892" cy="0"/>
          </a:xfrm>
          <a:prstGeom prst="line">
            <a:avLst/>
          </a:prstGeom>
          <a:ln>
            <a:solidFill>
              <a:srgbClr val="0C2759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6553200" y="6520259"/>
            <a:ext cx="2133600" cy="365125"/>
          </a:xfrm>
        </p:spPr>
        <p:txBody>
          <a:bodyPr/>
          <a:lstStyle/>
          <a:p>
            <a:pPr lvl="0">
              <a:defRPr/>
            </a:pPr>
            <a:fld id="{7804239B-D302-47C8-870F-9A3CEECBE377}" type="slidenum">
              <a:rPr lang="en-US" altLang="en-US">
                <a:latin typeface="KoPub돋움체_Pro Bold"/>
                <a:ea typeface="KoPub돋움체_Pro Bold"/>
              </a:rPr>
              <a:pPr lvl="0">
                <a:defRPr/>
              </a:pPr>
              <a:t>3</a:t>
            </a:fld>
            <a:endParaRPr lang="en-US" altLang="en-US">
              <a:latin typeface="KoPub돋움체_Pro Bold"/>
              <a:ea typeface="KoPub돋움체_Pro Bold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0" y="6534835"/>
            <a:ext cx="4111625" cy="3117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500">
                <a:solidFill>
                  <a:schemeClr val="bg1">
                    <a:lumMod val="50000"/>
                  </a:schemeClr>
                </a:solidFill>
                <a:latin typeface="KoPub돋움체_Pro Bold"/>
                <a:ea typeface="KoPub돋움체_Pro Bold"/>
              </a:rPr>
              <a:t>충북대학교 </a:t>
            </a:r>
            <a:r>
              <a:rPr lang="en-US" altLang="ko-KR" sz="1500">
                <a:solidFill>
                  <a:schemeClr val="bg1">
                    <a:lumMod val="50000"/>
                  </a:schemeClr>
                </a:solidFill>
                <a:latin typeface="KoPub돋움체_Pro Bold"/>
                <a:ea typeface="KoPub돋움체_Pro Bold"/>
              </a:rPr>
              <a:t>SW</a:t>
            </a:r>
            <a:r>
              <a:rPr lang="ko-KR" altLang="en-US" sz="1500">
                <a:solidFill>
                  <a:schemeClr val="bg1">
                    <a:lumMod val="50000"/>
                  </a:schemeClr>
                </a:solidFill>
                <a:latin typeface="KoPub돋움체_Pro Bold"/>
                <a:ea typeface="KoPub돋움체_Pro Bold"/>
              </a:rPr>
              <a:t>중심대학사업단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직사각형 104"/>
          <p:cNvSpPr/>
          <p:nvPr/>
        </p:nvSpPr>
        <p:spPr>
          <a:xfrm>
            <a:off x="8172400" y="0"/>
            <a:ext cx="792088" cy="1844824"/>
          </a:xfrm>
          <a:prstGeom prst="rect">
            <a:avLst/>
          </a:prstGeom>
          <a:solidFill>
            <a:srgbClr val="0c27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a옛날목욕탕L"/>
              <a:ea typeface="a옛날목욕탕L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90980" y="511070"/>
            <a:ext cx="6192688" cy="57287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3200" b="1">
                <a:solidFill>
                  <a:srgbClr val="0c2759"/>
                </a:solidFill>
                <a:latin typeface="a옛날목욕탕L"/>
                <a:ea typeface="a옛날목욕탕L"/>
              </a:rPr>
              <a:t>1.3 </a:t>
            </a:r>
            <a:r>
              <a:rPr lang="ko-KR" altLang="en-US" sz="3200" b="1">
                <a:solidFill>
                  <a:srgbClr val="0c2759"/>
                </a:solidFill>
                <a:latin typeface="a옛날목욕탕L"/>
                <a:ea typeface="a옛날목욕탕L"/>
              </a:rPr>
              <a:t>클라우드 컴퓨팅의 유형</a:t>
            </a:r>
            <a:endParaRPr lang="ko-KR" altLang="en-US" sz="3200" b="1">
              <a:solidFill>
                <a:srgbClr val="0c2759"/>
              </a:solidFill>
              <a:latin typeface="a옛날목욕탕L"/>
              <a:ea typeface="a옛날목욕탕L"/>
            </a:endParaRPr>
          </a:p>
        </p:txBody>
      </p:sp>
      <p:cxnSp>
        <p:nvCxnSpPr>
          <p:cNvPr id="39" name="직선 연결선 38"/>
          <p:cNvCxnSpPr/>
          <p:nvPr/>
        </p:nvCxnSpPr>
        <p:spPr>
          <a:xfrm flipH="1">
            <a:off x="340597" y="1268760"/>
            <a:ext cx="7740892" cy="0"/>
          </a:xfrm>
          <a:prstGeom prst="line">
            <a:avLst/>
          </a:prstGeom>
          <a:ln>
            <a:solidFill>
              <a:srgbClr val="0c2759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사각형: 둥근 모서리 7"/>
          <p:cNvSpPr/>
          <p:nvPr/>
        </p:nvSpPr>
        <p:spPr>
          <a:xfrm>
            <a:off x="467544" y="2381419"/>
            <a:ext cx="1944216" cy="576066"/>
          </a:xfrm>
          <a:prstGeom prst="roundRect">
            <a:avLst>
              <a:gd name="adj" fmla="val 16667"/>
            </a:avLst>
          </a:prstGeom>
          <a:solidFill>
            <a:srgbClr val="0c27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altLang="ko-KR">
              <a:latin typeface="a옛날목욕탕L"/>
              <a:ea typeface="a옛날목욕탕L"/>
            </a:endParaRPr>
          </a:p>
          <a:p>
            <a:pPr algn="ctr">
              <a:defRPr/>
            </a:pPr>
            <a:r>
              <a:rPr lang="en-US" altLang="ko-KR" b="1">
                <a:latin typeface="a옛날목욕탕L"/>
                <a:ea typeface="a옛날목욕탕L"/>
              </a:rPr>
              <a:t>IAAS</a:t>
            </a:r>
            <a:endParaRPr lang="en-US" altLang="ko-KR" b="1">
              <a:latin typeface="a옛날목욕탕L"/>
              <a:ea typeface="a옛날목욕탕L"/>
            </a:endParaRPr>
          </a:p>
          <a:p>
            <a:pPr algn="ctr">
              <a:defRPr/>
            </a:pPr>
            <a:endParaRPr lang="en-US" altLang="ko-KR">
              <a:latin typeface="a옛날목욕탕L"/>
              <a:ea typeface="a옛날목욕탕L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>
          <a:xfrm>
            <a:off x="6553200" y="6520259"/>
            <a:ext cx="2133600" cy="365125"/>
          </a:xfrm>
        </p:spPr>
        <p:txBody>
          <a:bodyPr/>
          <a:lstStyle/>
          <a:p>
            <a:pPr lvl="0">
              <a:defRPr/>
            </a:pPr>
            <a:fld id="{7804239B-D302-47C8-870F-9A3CEECBE377}" type="slidenum">
              <a:rPr lang="en-US" altLang="en-US">
                <a:latin typeface="KoPub돋움체_Pro Bold"/>
                <a:ea typeface="KoPub돋움체_Pro Bold"/>
              </a:rPr>
              <a:pPr lvl="0">
                <a:defRPr/>
              </a:pPr>
              <a:t>4</a:t>
            </a:fld>
            <a:endParaRPr lang="en-US" altLang="en-US">
              <a:latin typeface="KoPub돋움체_Pro Bold"/>
              <a:ea typeface="KoPub돋움체_Pro Bold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0" y="6534835"/>
            <a:ext cx="4111625" cy="3117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500">
                <a:solidFill>
                  <a:schemeClr val="bg1">
                    <a:lumMod val="50000"/>
                  </a:schemeClr>
                </a:solidFill>
                <a:latin typeface="KoPub돋움체_Pro Bold"/>
                <a:ea typeface="KoPub돋움체_Pro Bold"/>
              </a:rPr>
              <a:t>충북대학교 </a:t>
            </a:r>
            <a:r>
              <a:rPr lang="en-US" altLang="ko-KR" sz="1500">
                <a:solidFill>
                  <a:schemeClr val="bg1">
                    <a:lumMod val="50000"/>
                  </a:schemeClr>
                </a:solidFill>
                <a:latin typeface="KoPub돋움체_Pro Bold"/>
                <a:ea typeface="KoPub돋움체_Pro Bold"/>
              </a:rPr>
              <a:t>SW</a:t>
            </a:r>
            <a:r>
              <a:rPr lang="ko-KR" altLang="en-US" sz="1500">
                <a:solidFill>
                  <a:schemeClr val="bg1">
                    <a:lumMod val="50000"/>
                  </a:schemeClr>
                </a:solidFill>
                <a:latin typeface="KoPub돋움체_Pro Bold"/>
                <a:ea typeface="KoPub돋움체_Pro Bold"/>
              </a:rPr>
              <a:t>중심대학사업단</a:t>
            </a:r>
            <a:endParaRPr lang="ko-KR" altLang="en-US" sz="1500">
              <a:solidFill>
                <a:schemeClr val="bg1">
                  <a:lumMod val="50000"/>
                </a:schemeClr>
              </a:solidFill>
              <a:latin typeface="KoPub돋움체_Pro Bold"/>
              <a:ea typeface="KoPub돋움체_Pro Bold"/>
            </a:endParaRPr>
          </a:p>
        </p:txBody>
      </p:sp>
      <p:sp>
        <p:nvSpPr>
          <p:cNvPr id="2051" name="사각형: 둥근 모서리 7"/>
          <p:cNvSpPr/>
          <p:nvPr/>
        </p:nvSpPr>
        <p:spPr>
          <a:xfrm>
            <a:off x="467544" y="3519689"/>
            <a:ext cx="1944216" cy="576066"/>
          </a:xfrm>
          <a:prstGeom prst="roundRect">
            <a:avLst>
              <a:gd name="adj" fmla="val 16667"/>
            </a:avLst>
          </a:prstGeom>
          <a:solidFill>
            <a:srgbClr val="0c27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b="1">
                <a:latin typeface="a옛날목욕탕L"/>
                <a:ea typeface="a옛날목욕탕L"/>
              </a:rPr>
              <a:t>PAAS</a:t>
            </a:r>
            <a:endParaRPr lang="en-US" altLang="ko-KR" b="1">
              <a:latin typeface="a옛날목욕탕L"/>
              <a:ea typeface="a옛날목욕탕L"/>
            </a:endParaRPr>
          </a:p>
        </p:txBody>
      </p:sp>
      <p:sp>
        <p:nvSpPr>
          <p:cNvPr id="2052" name="사각형: 둥근 모서리 7"/>
          <p:cNvSpPr/>
          <p:nvPr/>
        </p:nvSpPr>
        <p:spPr>
          <a:xfrm>
            <a:off x="467544" y="4685675"/>
            <a:ext cx="1872208" cy="576066"/>
          </a:xfrm>
          <a:prstGeom prst="roundRect">
            <a:avLst>
              <a:gd name="adj" fmla="val 16667"/>
            </a:avLst>
          </a:prstGeom>
          <a:solidFill>
            <a:srgbClr val="0c27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b="1">
                <a:latin typeface="a옛날목욕탕L"/>
                <a:ea typeface="a옛날목욕탕L"/>
              </a:rPr>
              <a:t>SAAS</a:t>
            </a:r>
            <a:endParaRPr lang="en-US" altLang="ko-KR" b="1">
              <a:latin typeface="a옛날목욕탕L"/>
              <a:ea typeface="a옛날목욕탕L"/>
            </a:endParaRPr>
          </a:p>
        </p:txBody>
      </p:sp>
      <p:sp>
        <p:nvSpPr>
          <p:cNvPr id="2054" name="직사각형 2053"/>
          <p:cNvSpPr/>
          <p:nvPr/>
        </p:nvSpPr>
        <p:spPr>
          <a:xfrm>
            <a:off x="2771800" y="2165397"/>
            <a:ext cx="5492612" cy="936103"/>
          </a:xfrm>
          <a:prstGeom prst="rect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/>
              <a:t>소프트웨어</a:t>
            </a:r>
            <a:r>
              <a:rPr lang="en-US" altLang="ko-KR"/>
              <a:t>,</a:t>
            </a:r>
            <a:r>
              <a:rPr lang="ko-KR" altLang="en-US"/>
              <a:t> 서비스 구축을 위해 </a:t>
            </a:r>
            <a:endParaRPr lang="ko-KR" altLang="en-US"/>
          </a:p>
          <a:p>
            <a:pPr algn="ctr">
              <a:defRPr/>
            </a:pPr>
            <a:r>
              <a:rPr lang="ko-KR" altLang="en-US"/>
              <a:t>인프라만 제공해주는 형태</a:t>
            </a:r>
            <a:br>
              <a:rPr lang="ko-KR" altLang="en-US"/>
            </a:br>
            <a:r>
              <a:rPr lang="en-US" altLang="ko-KR" sz="1600"/>
              <a:t>ex) </a:t>
            </a:r>
            <a:r>
              <a:rPr lang="ko-KR" altLang="en-US" sz="1600"/>
              <a:t>아마존 </a:t>
            </a:r>
            <a:r>
              <a:rPr lang="en-US" altLang="ko-KR" sz="1600"/>
              <a:t>AWS,</a:t>
            </a:r>
            <a:r>
              <a:rPr lang="ko-KR" altLang="en-US" sz="1600"/>
              <a:t> 마이크로소프트 </a:t>
            </a:r>
            <a:r>
              <a:rPr lang="en-US" altLang="ko-KR" sz="1600"/>
              <a:t>AZURE</a:t>
            </a:r>
            <a:endParaRPr lang="en-US" altLang="ko-KR" sz="1600"/>
          </a:p>
        </p:txBody>
      </p:sp>
      <p:sp>
        <p:nvSpPr>
          <p:cNvPr id="2055" name="직사각형 2054"/>
          <p:cNvSpPr/>
          <p:nvPr/>
        </p:nvSpPr>
        <p:spPr>
          <a:xfrm>
            <a:off x="2771800" y="3422073"/>
            <a:ext cx="5492611" cy="864096"/>
          </a:xfrm>
          <a:prstGeom prst="rect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/>
              <a:t>소프트웨어 개발 및 관리에 필요한 환경을</a:t>
            </a:r>
            <a:endParaRPr lang="ko-KR" altLang="en-US"/>
          </a:p>
          <a:p>
            <a:pPr algn="ctr">
              <a:defRPr/>
            </a:pPr>
            <a:r>
              <a:rPr lang="ko-KR" altLang="en-US"/>
              <a:t> 제공해주는 형태</a:t>
            </a:r>
            <a:endParaRPr lang="ko-KR" altLang="en-US"/>
          </a:p>
          <a:p>
            <a:pPr algn="ctr">
              <a:defRPr/>
            </a:pPr>
            <a:r>
              <a:rPr lang="en-US" altLang="ko-KR" sz="1600"/>
              <a:t>ex) </a:t>
            </a:r>
            <a:r>
              <a:rPr lang="ko-KR" altLang="en-US" sz="1600"/>
              <a:t>구글앱엔진</a:t>
            </a:r>
            <a:r>
              <a:rPr lang="en-US" altLang="ko-KR" sz="1600"/>
              <a:t>,</a:t>
            </a:r>
            <a:r>
              <a:rPr lang="ko-KR" altLang="en-US" sz="1600"/>
              <a:t> </a:t>
            </a:r>
            <a:endParaRPr lang="ko-KR" altLang="en-US" sz="1600"/>
          </a:p>
        </p:txBody>
      </p:sp>
      <p:sp>
        <p:nvSpPr>
          <p:cNvPr id="2056" name="직사각형 2055"/>
          <p:cNvSpPr/>
          <p:nvPr/>
        </p:nvSpPr>
        <p:spPr>
          <a:xfrm>
            <a:off x="2778190" y="4562506"/>
            <a:ext cx="5486221" cy="864096"/>
          </a:xfrm>
          <a:prstGeom prst="rect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/>
              <a:t>기본 인프라는 물론 바로 사용할 수 있는 </a:t>
            </a:r>
            <a:endParaRPr lang="ko-KR" altLang="en-US"/>
          </a:p>
          <a:p>
            <a:pPr algn="ctr">
              <a:defRPr/>
            </a:pPr>
            <a:r>
              <a:rPr lang="ko-KR" altLang="en-US"/>
              <a:t>애플리케이션까지 제공해주는 형태</a:t>
            </a:r>
            <a:endParaRPr lang="ko-KR" altLang="en-US"/>
          </a:p>
          <a:p>
            <a:pPr algn="ctr">
              <a:defRPr/>
            </a:pPr>
            <a:r>
              <a:rPr lang="en-US" altLang="ko-KR" sz="1600"/>
              <a:t>ex) </a:t>
            </a:r>
            <a:r>
              <a:rPr lang="ko-KR" altLang="en-US" sz="1600"/>
              <a:t> 구글드라이브</a:t>
            </a:r>
            <a:r>
              <a:rPr lang="en-US" altLang="ko-KR" sz="1600"/>
              <a:t>,</a:t>
            </a:r>
            <a:r>
              <a:rPr lang="ko-KR" altLang="en-US" sz="1600"/>
              <a:t> </a:t>
            </a:r>
            <a:r>
              <a:rPr lang="en-US" altLang="ko-KR" sz="1600"/>
              <a:t>N</a:t>
            </a:r>
            <a:r>
              <a:rPr lang="ko-KR" altLang="en-US" sz="1600"/>
              <a:t>드라이브</a:t>
            </a:r>
            <a:endParaRPr lang="ko-KR" altLang="en-US" sz="1600"/>
          </a:p>
        </p:txBody>
      </p:sp>
      <p:pic>
        <p:nvPicPr>
          <p:cNvPr id="2057" name="그림 205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175620" y="2010313"/>
            <a:ext cx="6364932" cy="42269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직사각형 104"/>
          <p:cNvSpPr/>
          <p:nvPr/>
        </p:nvSpPr>
        <p:spPr>
          <a:xfrm>
            <a:off x="8172400" y="0"/>
            <a:ext cx="792088" cy="1844824"/>
          </a:xfrm>
          <a:prstGeom prst="rect">
            <a:avLst/>
          </a:prstGeom>
          <a:solidFill>
            <a:srgbClr val="0C27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a옛날목욕탕L"/>
              <a:ea typeface="a옛날목욕탕L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34617" y="474178"/>
            <a:ext cx="5256584" cy="58477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3200" b="1" dirty="0">
                <a:solidFill>
                  <a:srgbClr val="0C2759"/>
                </a:solidFill>
                <a:latin typeface="a옛날목욕탕L"/>
                <a:ea typeface="a옛날목욕탕L"/>
              </a:rPr>
              <a:t>1.4 </a:t>
            </a:r>
            <a:r>
              <a:rPr lang="ko-KR" altLang="en-US" sz="3200" b="1" dirty="0">
                <a:solidFill>
                  <a:srgbClr val="0C2759"/>
                </a:solidFill>
                <a:latin typeface="a옛날목욕탕L"/>
                <a:ea typeface="a옛날목욕탕L"/>
              </a:rPr>
              <a:t>클라우드 컴퓨팅의 이점</a:t>
            </a:r>
            <a:endParaRPr lang="en-US" altLang="ko-KR" sz="3200" b="1" dirty="0">
              <a:solidFill>
                <a:srgbClr val="0C2759"/>
              </a:solidFill>
              <a:latin typeface="a옛날목욕탕L"/>
              <a:ea typeface="a옛날목욕탕L"/>
            </a:endParaRPr>
          </a:p>
        </p:txBody>
      </p:sp>
      <p:cxnSp>
        <p:nvCxnSpPr>
          <p:cNvPr id="39" name="직선 연결선 38"/>
          <p:cNvCxnSpPr/>
          <p:nvPr/>
        </p:nvCxnSpPr>
        <p:spPr>
          <a:xfrm flipH="1">
            <a:off x="340597" y="1268760"/>
            <a:ext cx="7740892" cy="0"/>
          </a:xfrm>
          <a:prstGeom prst="line">
            <a:avLst/>
          </a:prstGeom>
          <a:ln>
            <a:solidFill>
              <a:srgbClr val="0C2759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2"/>
          <p:cNvSpPr>
            <a:spLocks noChangeArrowheads="1"/>
          </p:cNvSpPr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6553200" y="6520259"/>
            <a:ext cx="2133600" cy="365125"/>
          </a:xfrm>
        </p:spPr>
        <p:txBody>
          <a:bodyPr/>
          <a:lstStyle/>
          <a:p>
            <a:pPr lvl="0">
              <a:defRPr/>
            </a:pPr>
            <a:fld id="{7804239B-D302-47C8-870F-9A3CEECBE377}" type="slidenum">
              <a:rPr lang="en-US" altLang="en-US">
                <a:latin typeface="KoPub돋움체_Pro Bold"/>
                <a:ea typeface="KoPub돋움체_Pro Bold"/>
              </a:rPr>
              <a:pPr lvl="0">
                <a:defRPr/>
              </a:pPr>
              <a:t>5</a:t>
            </a:fld>
            <a:endParaRPr lang="en-US" altLang="en-US">
              <a:latin typeface="KoPub돋움체_Pro Bold"/>
              <a:ea typeface="KoPub돋움체_Pro Bold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0" y="6534835"/>
            <a:ext cx="4111625" cy="3117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500">
                <a:solidFill>
                  <a:schemeClr val="bg1">
                    <a:lumMod val="50000"/>
                  </a:schemeClr>
                </a:solidFill>
                <a:latin typeface="KoPub돋움체_Pro Bold"/>
                <a:ea typeface="KoPub돋움체_Pro Bold"/>
              </a:rPr>
              <a:t>충북대학교 </a:t>
            </a:r>
            <a:r>
              <a:rPr lang="en-US" altLang="ko-KR" sz="1500">
                <a:solidFill>
                  <a:schemeClr val="bg1">
                    <a:lumMod val="50000"/>
                  </a:schemeClr>
                </a:solidFill>
                <a:latin typeface="KoPub돋움체_Pro Bold"/>
                <a:ea typeface="KoPub돋움체_Pro Bold"/>
              </a:rPr>
              <a:t>SW</a:t>
            </a:r>
            <a:r>
              <a:rPr lang="ko-KR" altLang="en-US" sz="1500">
                <a:solidFill>
                  <a:schemeClr val="bg1">
                    <a:lumMod val="50000"/>
                  </a:schemeClr>
                </a:solidFill>
                <a:latin typeface="KoPub돋움체_Pro Bold"/>
                <a:ea typeface="KoPub돋움체_Pro Bold"/>
              </a:rPr>
              <a:t>중심대학사업단</a:t>
            </a:r>
          </a:p>
        </p:txBody>
      </p:sp>
      <p:pic>
        <p:nvPicPr>
          <p:cNvPr id="1040" name="그림 1039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40597" y="1588311"/>
            <a:ext cx="7800974" cy="44443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직사각형 104"/>
          <p:cNvSpPr/>
          <p:nvPr/>
        </p:nvSpPr>
        <p:spPr>
          <a:xfrm>
            <a:off x="8172400" y="0"/>
            <a:ext cx="792088" cy="1844824"/>
          </a:xfrm>
          <a:prstGeom prst="rect">
            <a:avLst/>
          </a:prstGeom>
          <a:solidFill>
            <a:srgbClr val="0C27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a옛날목욕탕L"/>
              <a:ea typeface="a옛날목욕탕L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23850" y="488487"/>
            <a:ext cx="5760640" cy="58477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3200" b="1" dirty="0">
                <a:solidFill>
                  <a:srgbClr val="0C2759"/>
                </a:solidFill>
                <a:latin typeface="a옛날목욕탕L"/>
                <a:ea typeface="a옛날목욕탕L"/>
              </a:rPr>
              <a:t>2.2 AWS</a:t>
            </a:r>
            <a:r>
              <a:rPr lang="ko-KR" altLang="en-US" sz="3200" b="1" dirty="0">
                <a:solidFill>
                  <a:srgbClr val="0C2759"/>
                </a:solidFill>
                <a:latin typeface="a옛날목욕탕L"/>
                <a:ea typeface="a옛날목욕탕L"/>
              </a:rPr>
              <a:t> 글로벌 </a:t>
            </a:r>
            <a:r>
              <a:rPr lang="ko-KR" altLang="en-US" sz="3200" b="1" dirty="0" err="1">
                <a:solidFill>
                  <a:srgbClr val="0C2759"/>
                </a:solidFill>
                <a:latin typeface="a옛날목욕탕L"/>
                <a:ea typeface="a옛날목욕탕L"/>
              </a:rPr>
              <a:t>인프라맵</a:t>
            </a:r>
            <a:endParaRPr lang="ko-KR" altLang="en-US" sz="3200" b="1" dirty="0">
              <a:solidFill>
                <a:srgbClr val="0C2759"/>
              </a:solidFill>
              <a:latin typeface="a옛날목욕탕L"/>
              <a:ea typeface="a옛날목욕탕L"/>
            </a:endParaRPr>
          </a:p>
        </p:txBody>
      </p:sp>
      <p:cxnSp>
        <p:nvCxnSpPr>
          <p:cNvPr id="39" name="직선 연결선 38"/>
          <p:cNvCxnSpPr/>
          <p:nvPr/>
        </p:nvCxnSpPr>
        <p:spPr>
          <a:xfrm flipH="1">
            <a:off x="340597" y="1268760"/>
            <a:ext cx="7740892" cy="0"/>
          </a:xfrm>
          <a:prstGeom prst="line">
            <a:avLst/>
          </a:prstGeom>
          <a:ln>
            <a:solidFill>
              <a:srgbClr val="0C2759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사각형: 둥근 모서리 7"/>
          <p:cNvSpPr/>
          <p:nvPr/>
        </p:nvSpPr>
        <p:spPr>
          <a:xfrm>
            <a:off x="605508" y="1685660"/>
            <a:ext cx="6768751" cy="568360"/>
          </a:xfrm>
          <a:prstGeom prst="roundRect">
            <a:avLst>
              <a:gd name="adj" fmla="val 16667"/>
            </a:avLst>
          </a:prstGeom>
          <a:solidFill>
            <a:srgbClr val="0C27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a옛날목욕탕L"/>
              <a:ea typeface="a옛날목욕탕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71382" y="1797871"/>
            <a:ext cx="691276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2000" dirty="0">
                <a:solidFill>
                  <a:schemeClr val="bg1"/>
                </a:solidFill>
                <a:latin typeface="KoPub돋움체_Pro Bold"/>
                <a:ea typeface="KoPub돋움체_Pro Bold"/>
              </a:rPr>
              <a:t>전 세계 </a:t>
            </a:r>
            <a:r>
              <a:rPr lang="en-US" altLang="ko-KR" sz="2000" dirty="0">
                <a:solidFill>
                  <a:schemeClr val="bg1"/>
                </a:solidFill>
                <a:latin typeface="KoPub돋움체_Pro Bold"/>
                <a:ea typeface="KoPub돋움체_Pro Bold"/>
              </a:rPr>
              <a:t>22</a:t>
            </a:r>
            <a:r>
              <a:rPr lang="ko-KR" altLang="en-US" sz="2000" dirty="0">
                <a:solidFill>
                  <a:schemeClr val="bg1"/>
                </a:solidFill>
                <a:latin typeface="KoPub돋움체_Pro Bold"/>
                <a:ea typeface="KoPub돋움체_Pro Bold"/>
              </a:rPr>
              <a:t>개의 지리적 </a:t>
            </a:r>
            <a:r>
              <a:rPr lang="ko-KR" altLang="en-US" sz="2000" dirty="0" err="1">
                <a:solidFill>
                  <a:schemeClr val="bg1"/>
                </a:solidFill>
                <a:latin typeface="KoPub돋움체_Pro Bold"/>
                <a:ea typeface="KoPub돋움체_Pro Bold"/>
              </a:rPr>
              <a:t>리전</a:t>
            </a:r>
            <a:r>
              <a:rPr lang="ko-KR" altLang="en-US" sz="2000" dirty="0">
                <a:solidFill>
                  <a:schemeClr val="bg1"/>
                </a:solidFill>
                <a:latin typeface="KoPub돋움체_Pro Bold"/>
                <a:ea typeface="KoPub돋움체_Pro Bold"/>
              </a:rPr>
              <a:t> 내에 </a:t>
            </a:r>
            <a:r>
              <a:rPr lang="en-US" altLang="ko-KR" sz="2000" dirty="0">
                <a:solidFill>
                  <a:schemeClr val="bg1"/>
                </a:solidFill>
                <a:latin typeface="KoPub돋움체_Pro Bold"/>
                <a:ea typeface="KoPub돋움체_Pro Bold"/>
              </a:rPr>
              <a:t>69</a:t>
            </a:r>
            <a:r>
              <a:rPr lang="ko-KR" altLang="en-US" sz="2000" dirty="0">
                <a:solidFill>
                  <a:schemeClr val="bg1"/>
                </a:solidFill>
                <a:latin typeface="KoPub돋움체_Pro Bold"/>
                <a:ea typeface="KoPub돋움체_Pro Bold"/>
              </a:rPr>
              <a:t>개의 가용 영역을 운영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>
          <a:xfrm>
            <a:off x="6553200" y="6520259"/>
            <a:ext cx="2133600" cy="365125"/>
          </a:xfrm>
        </p:spPr>
        <p:txBody>
          <a:bodyPr/>
          <a:lstStyle/>
          <a:p>
            <a:pPr lvl="0">
              <a:defRPr/>
            </a:pPr>
            <a:fld id="{7804239B-D302-47C8-870F-9A3CEECBE377}" type="slidenum">
              <a:rPr lang="en-US" altLang="en-US">
                <a:solidFill>
                  <a:schemeClr val="bg1">
                    <a:lumMod val="50000"/>
                  </a:schemeClr>
                </a:solidFill>
                <a:latin typeface="KoPub돋움체_Pro Bold"/>
                <a:ea typeface="KoPub돋움체_Pro Bold"/>
              </a:rPr>
              <a:pPr lvl="0">
                <a:defRPr/>
              </a:pPr>
              <a:t>7</a:t>
            </a:fld>
            <a:endParaRPr lang="en-US" altLang="en-US">
              <a:solidFill>
                <a:schemeClr val="bg1">
                  <a:lumMod val="50000"/>
                </a:schemeClr>
              </a:solidFill>
              <a:latin typeface="KoPub돋움체_Pro Bold"/>
              <a:ea typeface="KoPub돋움체_Pro Bold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0" y="6534835"/>
            <a:ext cx="4111625" cy="3117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500">
                <a:solidFill>
                  <a:schemeClr val="bg1">
                    <a:lumMod val="50000"/>
                  </a:schemeClr>
                </a:solidFill>
                <a:latin typeface="KoPub돋움체_Pro Bold"/>
                <a:ea typeface="KoPub돋움체_Pro Bold"/>
              </a:rPr>
              <a:t>충북대학교 </a:t>
            </a:r>
            <a:r>
              <a:rPr lang="en-US" altLang="ko-KR" sz="1500">
                <a:solidFill>
                  <a:schemeClr val="bg1">
                    <a:lumMod val="50000"/>
                  </a:schemeClr>
                </a:solidFill>
                <a:latin typeface="KoPub돋움체_Pro Bold"/>
                <a:ea typeface="KoPub돋움체_Pro Bold"/>
              </a:rPr>
              <a:t>SW</a:t>
            </a:r>
            <a:r>
              <a:rPr lang="ko-KR" altLang="en-US" sz="1500">
                <a:solidFill>
                  <a:schemeClr val="bg1">
                    <a:lumMod val="50000"/>
                  </a:schemeClr>
                </a:solidFill>
                <a:latin typeface="KoPub돋움체_Pro Bold"/>
                <a:ea typeface="KoPub돋움체_Pro Bold"/>
              </a:rPr>
              <a:t>중심대학사업단</a:t>
            </a:r>
          </a:p>
        </p:txBody>
      </p:sp>
      <p:pic>
        <p:nvPicPr>
          <p:cNvPr id="3075" name="그림 3074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23850" y="2357591"/>
            <a:ext cx="8496300" cy="40324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직사각형 104"/>
          <p:cNvSpPr/>
          <p:nvPr/>
        </p:nvSpPr>
        <p:spPr>
          <a:xfrm>
            <a:off x="8172400" y="0"/>
            <a:ext cx="792088" cy="1844824"/>
          </a:xfrm>
          <a:prstGeom prst="rect">
            <a:avLst/>
          </a:prstGeom>
          <a:solidFill>
            <a:srgbClr val="0C27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a옛날목욕탕L"/>
              <a:ea typeface="a옛날목욕탕L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89049" y="467881"/>
            <a:ext cx="3744416" cy="58477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3200" b="1" dirty="0">
                <a:solidFill>
                  <a:srgbClr val="0C2759"/>
                </a:solidFill>
                <a:latin typeface="a옛날목욕탕L"/>
                <a:ea typeface="a옛날목욕탕L"/>
              </a:rPr>
              <a:t>3.1 AWS</a:t>
            </a:r>
            <a:r>
              <a:rPr lang="ko-KR" altLang="en-US" sz="3200" b="1" dirty="0">
                <a:solidFill>
                  <a:srgbClr val="0C2759"/>
                </a:solidFill>
                <a:latin typeface="a옛날목욕탕L"/>
                <a:ea typeface="a옛날목욕탕L"/>
              </a:rPr>
              <a:t>의 이점</a:t>
            </a:r>
          </a:p>
        </p:txBody>
      </p:sp>
      <p:cxnSp>
        <p:nvCxnSpPr>
          <p:cNvPr id="39" name="직선 연결선 38"/>
          <p:cNvCxnSpPr/>
          <p:nvPr/>
        </p:nvCxnSpPr>
        <p:spPr>
          <a:xfrm flipH="1">
            <a:off x="340597" y="1268760"/>
            <a:ext cx="7740892" cy="0"/>
          </a:xfrm>
          <a:prstGeom prst="line">
            <a:avLst/>
          </a:prstGeom>
          <a:ln>
            <a:solidFill>
              <a:srgbClr val="0C2759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0" y="6534835"/>
            <a:ext cx="4111625" cy="3117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500">
                <a:solidFill>
                  <a:schemeClr val="bg1">
                    <a:lumMod val="50000"/>
                  </a:schemeClr>
                </a:solidFill>
                <a:latin typeface="KoPub돋움체_Pro Bold"/>
                <a:ea typeface="KoPub돋움체_Pro Bold"/>
              </a:rPr>
              <a:t>충북대학교 </a:t>
            </a:r>
            <a:r>
              <a:rPr lang="en-US" altLang="ko-KR" sz="1500">
                <a:solidFill>
                  <a:schemeClr val="bg1">
                    <a:lumMod val="50000"/>
                  </a:schemeClr>
                </a:solidFill>
                <a:latin typeface="KoPub돋움체_Pro Bold"/>
                <a:ea typeface="KoPub돋움체_Pro Bold"/>
              </a:rPr>
              <a:t>SW</a:t>
            </a:r>
            <a:r>
              <a:rPr lang="ko-KR" altLang="en-US" sz="1500">
                <a:solidFill>
                  <a:schemeClr val="bg1">
                    <a:lumMod val="50000"/>
                  </a:schemeClr>
                </a:solidFill>
                <a:latin typeface="KoPub돋움체_Pro Bold"/>
                <a:ea typeface="KoPub돋움체_Pro Bold"/>
              </a:rPr>
              <a:t>중심대학사업단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8AEDC0FA-7577-4E7B-B889-25A0EE2A3836}"/>
              </a:ext>
            </a:extLst>
          </p:cNvPr>
          <p:cNvSpPr/>
          <p:nvPr/>
        </p:nvSpPr>
        <p:spPr>
          <a:xfrm>
            <a:off x="683568" y="2116369"/>
            <a:ext cx="7149434" cy="581916"/>
          </a:xfrm>
          <a:prstGeom prst="roundRect">
            <a:avLst/>
          </a:prstGeom>
          <a:solidFill>
            <a:srgbClr val="0C27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옛날목욕탕L" panose="02020600000000000000" pitchFamily="18" charset="-127"/>
              <a:ea typeface="a옛날목욕탕L" panose="02020600000000000000" pitchFamily="18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71C9768-D233-423E-8C9A-F91018AFBDB7}"/>
              </a:ext>
            </a:extLst>
          </p:cNvPr>
          <p:cNvSpPr txBox="1"/>
          <p:nvPr/>
        </p:nvSpPr>
        <p:spPr>
          <a:xfrm>
            <a:off x="782496" y="2205241"/>
            <a:ext cx="6861402" cy="4041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solidFill>
                  <a:schemeClr val="bg1"/>
                </a:solidFill>
                <a:latin typeface="KoPub돋움체_Pro Bold" panose="00000800000000000000" pitchFamily="50" charset="-127"/>
                <a:ea typeface="KoPub돋움체_Pro Bold" panose="00000800000000000000" pitchFamily="50" charset="-127"/>
              </a:rPr>
              <a:t>- </a:t>
            </a:r>
            <a:r>
              <a:rPr lang="ko-KR" altLang="en-US" sz="2000" dirty="0">
                <a:solidFill>
                  <a:schemeClr val="bg1"/>
                </a:solidFill>
                <a:latin typeface="KoPub돋움체_Pro Bold" panose="00000800000000000000" pitchFamily="50" charset="-127"/>
                <a:ea typeface="KoPub돋움체_Pro Bold" panose="00000800000000000000" pitchFamily="50" charset="-127"/>
              </a:rPr>
              <a:t>국제적 입지 </a:t>
            </a:r>
            <a:r>
              <a:rPr lang="en-US" altLang="ko-KR" sz="2000" dirty="0">
                <a:solidFill>
                  <a:schemeClr val="bg1"/>
                </a:solidFill>
                <a:latin typeface="KoPub돋움체_Pro Bold" panose="00000800000000000000" pitchFamily="50" charset="-127"/>
                <a:ea typeface="KoPub돋움체_Pro Bold" panose="00000800000000000000" pitchFamily="50" charset="-127"/>
              </a:rPr>
              <a:t>: </a:t>
            </a:r>
            <a:r>
              <a:rPr lang="ko-KR" altLang="en-US" sz="2000" dirty="0">
                <a:solidFill>
                  <a:schemeClr val="bg1"/>
                </a:solidFill>
                <a:latin typeface="KoPub돋움체_Pro Bold" panose="00000800000000000000" pitchFamily="50" charset="-127"/>
                <a:ea typeface="KoPub돋움체_Pro Bold" panose="00000800000000000000" pitchFamily="50" charset="-127"/>
              </a:rPr>
              <a:t>클라우드 업계 </a:t>
            </a:r>
            <a:r>
              <a:rPr lang="en-US" altLang="ko-KR" sz="2000" dirty="0">
                <a:solidFill>
                  <a:schemeClr val="bg1"/>
                </a:solidFill>
                <a:latin typeface="KoPub돋움체_Pro Bold" panose="00000800000000000000" pitchFamily="50" charset="-127"/>
                <a:ea typeface="KoPub돋움체_Pro Bold" panose="00000800000000000000" pitchFamily="50" charset="-127"/>
              </a:rPr>
              <a:t>1</a:t>
            </a:r>
            <a:r>
              <a:rPr lang="ko-KR" altLang="en-US" sz="2000" dirty="0">
                <a:solidFill>
                  <a:schemeClr val="bg1"/>
                </a:solidFill>
                <a:latin typeface="KoPub돋움체_Pro Bold" panose="00000800000000000000" pitchFamily="50" charset="-127"/>
                <a:ea typeface="KoPub돋움체_Pro Bold" panose="00000800000000000000" pitchFamily="50" charset="-127"/>
              </a:rPr>
              <a:t>위</a:t>
            </a:r>
            <a:r>
              <a:rPr lang="en-US" altLang="ko-KR" sz="2000" dirty="0">
                <a:solidFill>
                  <a:schemeClr val="bg1"/>
                </a:solidFill>
                <a:latin typeface="KoPub돋움체_Pro Bold" panose="00000800000000000000" pitchFamily="50" charset="-127"/>
                <a:ea typeface="KoPub돋움체_Pro Bold" panose="00000800000000000000" pitchFamily="50" charset="-127"/>
              </a:rPr>
              <a:t>, 100</a:t>
            </a:r>
            <a:r>
              <a:rPr lang="ko-KR" altLang="en-US" sz="2000" dirty="0">
                <a:solidFill>
                  <a:schemeClr val="bg1"/>
                </a:solidFill>
                <a:latin typeface="KoPub돋움체_Pro Bold" panose="00000800000000000000" pitchFamily="50" charset="-127"/>
                <a:ea typeface="KoPub돋움체_Pro Bold" panose="00000800000000000000" pitchFamily="50" charset="-127"/>
              </a:rPr>
              <a:t>만명 이상의 사용자</a:t>
            </a:r>
            <a:endParaRPr lang="en-US" altLang="ko-KR" sz="2000" dirty="0">
              <a:solidFill>
                <a:schemeClr val="bg1"/>
              </a:solidFill>
              <a:latin typeface="KoPub돋움체_Pro Bold" panose="00000800000000000000" pitchFamily="50" charset="-127"/>
              <a:ea typeface="KoPub돋움체_Pro Bold" panose="00000800000000000000" pitchFamily="50" charset="-127"/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F828922A-C5EC-49C0-857F-C8C71A1C6815}"/>
              </a:ext>
            </a:extLst>
          </p:cNvPr>
          <p:cNvSpPr/>
          <p:nvPr/>
        </p:nvSpPr>
        <p:spPr>
          <a:xfrm>
            <a:off x="692490" y="5309630"/>
            <a:ext cx="7149434" cy="581916"/>
          </a:xfrm>
          <a:prstGeom prst="roundRect">
            <a:avLst/>
          </a:prstGeom>
          <a:solidFill>
            <a:srgbClr val="0C27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옛날목욕탕L" panose="02020600000000000000" pitchFamily="18" charset="-127"/>
              <a:ea typeface="a옛날목욕탕L" panose="02020600000000000000" pitchFamily="18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DA927B1-32BF-48D7-83DB-6E04664A33C6}"/>
              </a:ext>
            </a:extLst>
          </p:cNvPr>
          <p:cNvSpPr txBox="1"/>
          <p:nvPr/>
        </p:nvSpPr>
        <p:spPr>
          <a:xfrm>
            <a:off x="782496" y="5412023"/>
            <a:ext cx="6861402" cy="4041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solidFill>
                  <a:schemeClr val="bg1"/>
                </a:solidFill>
                <a:latin typeface="KoPub돋움체_Pro Bold" panose="00000800000000000000" pitchFamily="50" charset="-127"/>
                <a:ea typeface="KoPub돋움체_Pro Bold" panose="00000800000000000000" pitchFamily="50" charset="-127"/>
              </a:rPr>
              <a:t>-  </a:t>
            </a:r>
            <a:r>
              <a:rPr lang="ko-KR" altLang="en-US" sz="2000" dirty="0">
                <a:solidFill>
                  <a:schemeClr val="bg1"/>
                </a:solidFill>
                <a:latin typeface="KoPub돋움체_Pro Bold" panose="00000800000000000000" pitchFamily="50" charset="-127"/>
                <a:ea typeface="KoPub돋움체_Pro Bold" panose="00000800000000000000" pitchFamily="50" charset="-127"/>
              </a:rPr>
              <a:t>보안 </a:t>
            </a:r>
            <a:r>
              <a:rPr lang="en-US" altLang="ko-KR" sz="2000" dirty="0">
                <a:solidFill>
                  <a:schemeClr val="bg1"/>
                </a:solidFill>
                <a:latin typeface="KoPub돋움체_Pro Bold" panose="00000800000000000000" pitchFamily="50" charset="-127"/>
                <a:ea typeface="KoPub돋움체_Pro Bold" panose="00000800000000000000" pitchFamily="50" charset="-127"/>
              </a:rPr>
              <a:t>: Public Cloud</a:t>
            </a:r>
            <a:r>
              <a:rPr lang="ko-KR" altLang="en-US" sz="2000" dirty="0">
                <a:solidFill>
                  <a:schemeClr val="bg1"/>
                </a:solidFill>
                <a:latin typeface="KoPub돋움체_Pro Bold" panose="00000800000000000000" pitchFamily="50" charset="-127"/>
                <a:ea typeface="KoPub돋움체_Pro Bold" panose="00000800000000000000" pitchFamily="50" charset="-127"/>
              </a:rPr>
              <a:t>의 약점인 보안 강화</a:t>
            </a:r>
            <a:endParaRPr lang="en-US" altLang="ko-KR" sz="2000" dirty="0">
              <a:solidFill>
                <a:schemeClr val="bg1"/>
              </a:solidFill>
              <a:latin typeface="KoPub돋움체_Pro Bold" panose="00000800000000000000" pitchFamily="50" charset="-127"/>
              <a:ea typeface="KoPub돋움체_Pro Bold" panose="00000800000000000000" pitchFamily="50" charset="-127"/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45D510BB-79E0-4F49-ADF8-72C23E6C55AE}"/>
              </a:ext>
            </a:extLst>
          </p:cNvPr>
          <p:cNvSpPr/>
          <p:nvPr/>
        </p:nvSpPr>
        <p:spPr>
          <a:xfrm>
            <a:off x="692490" y="3200432"/>
            <a:ext cx="7149434" cy="581916"/>
          </a:xfrm>
          <a:prstGeom prst="roundRect">
            <a:avLst/>
          </a:prstGeom>
          <a:solidFill>
            <a:srgbClr val="0C27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옛날목욕탕L" panose="02020600000000000000" pitchFamily="18" charset="-127"/>
              <a:ea typeface="a옛날목욕탕L" panose="02020600000000000000" pitchFamily="18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98E556C-83F8-4CD3-924A-91B04C9F295F}"/>
              </a:ext>
            </a:extLst>
          </p:cNvPr>
          <p:cNvSpPr txBox="1"/>
          <p:nvPr/>
        </p:nvSpPr>
        <p:spPr>
          <a:xfrm>
            <a:off x="782496" y="3290490"/>
            <a:ext cx="75085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solidFill>
                  <a:schemeClr val="bg1"/>
                </a:solidFill>
                <a:latin typeface="KoPub돋움체_Pro Bold" panose="00000800000000000000" pitchFamily="50" charset="-127"/>
                <a:ea typeface="KoPub돋움체_Pro Bold" panose="00000800000000000000" pitchFamily="50" charset="-127"/>
              </a:rPr>
              <a:t>-  </a:t>
            </a:r>
            <a:r>
              <a:rPr lang="ko-KR" altLang="en-US" sz="2000" dirty="0">
                <a:solidFill>
                  <a:schemeClr val="bg1"/>
                </a:solidFill>
                <a:latin typeface="KoPub돋움체_Pro Bold" panose="00000800000000000000" pitchFamily="50" charset="-127"/>
                <a:ea typeface="KoPub돋움체_Pro Bold" panose="00000800000000000000" pitchFamily="50" charset="-127"/>
              </a:rPr>
              <a:t>가용성 </a:t>
            </a:r>
            <a:r>
              <a:rPr lang="en-US" altLang="ko-KR" sz="2000" dirty="0">
                <a:solidFill>
                  <a:schemeClr val="bg1"/>
                </a:solidFill>
                <a:latin typeface="KoPub돋움체_Pro Bold" panose="00000800000000000000" pitchFamily="50" charset="-127"/>
                <a:ea typeface="KoPub돋움체_Pro Bold" panose="00000800000000000000" pitchFamily="50" charset="-127"/>
              </a:rPr>
              <a:t>: </a:t>
            </a:r>
            <a:r>
              <a:rPr lang="ko-KR" altLang="en-US" sz="2000" dirty="0">
                <a:solidFill>
                  <a:schemeClr val="bg1"/>
                </a:solidFill>
                <a:latin typeface="KoPub돋움체_Pro Bold" panose="00000800000000000000" pitchFamily="50" charset="-127"/>
                <a:ea typeface="KoPub돋움체_Pro Bold" panose="00000800000000000000" pitchFamily="50" charset="-127"/>
              </a:rPr>
              <a:t>클라우드 공급업체 중 가장 뛰어난 네트워크 가용성</a:t>
            </a:r>
            <a:endParaRPr lang="en-US" altLang="ko-KR" sz="2000" dirty="0">
              <a:solidFill>
                <a:schemeClr val="bg1"/>
              </a:solidFill>
              <a:latin typeface="KoPub돋움체_Pro Bold" panose="00000800000000000000" pitchFamily="50" charset="-127"/>
              <a:ea typeface="KoPub돋움체_Pro Bold" panose="00000800000000000000" pitchFamily="50" charset="-127"/>
            </a:endParaRP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270AA5FB-2418-448E-BAEE-45F999EB496D}"/>
              </a:ext>
            </a:extLst>
          </p:cNvPr>
          <p:cNvSpPr/>
          <p:nvPr/>
        </p:nvSpPr>
        <p:spPr>
          <a:xfrm>
            <a:off x="683568" y="4283808"/>
            <a:ext cx="7158356" cy="581916"/>
          </a:xfrm>
          <a:prstGeom prst="roundRect">
            <a:avLst/>
          </a:prstGeom>
          <a:solidFill>
            <a:srgbClr val="0C27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옛날목욕탕L" panose="02020600000000000000" pitchFamily="18" charset="-127"/>
              <a:ea typeface="a옛날목욕탕L" panose="02020600000000000000" pitchFamily="18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0A44ADB-FEDF-438F-A32B-03C537974258}"/>
              </a:ext>
            </a:extLst>
          </p:cNvPr>
          <p:cNvSpPr txBox="1"/>
          <p:nvPr/>
        </p:nvSpPr>
        <p:spPr>
          <a:xfrm>
            <a:off x="782495" y="4374711"/>
            <a:ext cx="75085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solidFill>
                  <a:schemeClr val="bg1"/>
                </a:solidFill>
                <a:latin typeface="KoPub돋움체_Pro Bold" panose="00000800000000000000" pitchFamily="50" charset="-127"/>
                <a:ea typeface="KoPub돋움체_Pro Bold" panose="00000800000000000000" pitchFamily="50" charset="-127"/>
              </a:rPr>
              <a:t>-  </a:t>
            </a:r>
            <a:r>
              <a:rPr lang="ko-KR" altLang="en-US" sz="2000" dirty="0">
                <a:solidFill>
                  <a:schemeClr val="bg1"/>
                </a:solidFill>
                <a:latin typeface="KoPub돋움체_Pro Bold" panose="00000800000000000000" pitchFamily="50" charset="-127"/>
                <a:ea typeface="KoPub돋움체_Pro Bold" panose="00000800000000000000" pitchFamily="50" charset="-127"/>
              </a:rPr>
              <a:t>성능 </a:t>
            </a:r>
            <a:r>
              <a:rPr lang="en-US" altLang="ko-KR" sz="2000" dirty="0">
                <a:solidFill>
                  <a:schemeClr val="bg1"/>
                </a:solidFill>
                <a:latin typeface="KoPub돋움체_Pro Bold" panose="00000800000000000000" pitchFamily="50" charset="-127"/>
                <a:ea typeface="KoPub돋움체_Pro Bold" panose="00000800000000000000" pitchFamily="50" charset="-127"/>
              </a:rPr>
              <a:t>: </a:t>
            </a:r>
            <a:r>
              <a:rPr lang="ko-KR" altLang="en-US" sz="2000" dirty="0">
                <a:solidFill>
                  <a:schemeClr val="bg1"/>
                </a:solidFill>
                <a:latin typeface="KoPub돋움체_Pro Bold" panose="00000800000000000000" pitchFamily="50" charset="-127"/>
                <a:ea typeface="KoPub돋움체_Pro Bold" panose="00000800000000000000" pitchFamily="50" charset="-127"/>
              </a:rPr>
              <a:t>사용자에 따라 필요한 서버를 몇 분 안에 증설 가능 </a:t>
            </a:r>
            <a:endParaRPr lang="en-US" altLang="ko-KR" sz="2000" dirty="0">
              <a:solidFill>
                <a:schemeClr val="bg1"/>
              </a:solidFill>
              <a:latin typeface="KoPub돋움체_Pro Bold" panose="00000800000000000000" pitchFamily="50" charset="-127"/>
              <a:ea typeface="KoPub돋움체_Pro Bold" panose="00000800000000000000" pitchFamily="50" charset="-127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6" name="그림 3075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99656" y="1745209"/>
            <a:ext cx="8344687" cy="4464495"/>
          </a:xfrm>
          <a:prstGeom prst="rect">
            <a:avLst/>
          </a:prstGeom>
        </p:spPr>
      </p:pic>
      <p:sp>
        <p:nvSpPr>
          <p:cNvPr id="105" name="직사각형 104"/>
          <p:cNvSpPr/>
          <p:nvPr/>
        </p:nvSpPr>
        <p:spPr>
          <a:xfrm>
            <a:off x="8172400" y="0"/>
            <a:ext cx="792088" cy="1844824"/>
          </a:xfrm>
          <a:prstGeom prst="rect">
            <a:avLst/>
          </a:prstGeom>
          <a:solidFill>
            <a:srgbClr val="0C27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a옛날목욕탕L"/>
              <a:ea typeface="a옛날목욕탕L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21266" y="455630"/>
            <a:ext cx="5760640" cy="58477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3200" b="1" dirty="0">
                <a:solidFill>
                  <a:srgbClr val="0C2759"/>
                </a:solidFill>
                <a:latin typeface="a옛날목욕탕L"/>
                <a:ea typeface="a옛날목욕탕L"/>
              </a:rPr>
              <a:t>3.2 AWS </a:t>
            </a:r>
            <a:r>
              <a:rPr lang="ko-KR" altLang="en-US" sz="3200" b="1" dirty="0">
                <a:solidFill>
                  <a:srgbClr val="0C2759"/>
                </a:solidFill>
                <a:latin typeface="a옛날목욕탕L"/>
                <a:ea typeface="a옛날목욕탕L"/>
              </a:rPr>
              <a:t>이용 기업들</a:t>
            </a:r>
          </a:p>
        </p:txBody>
      </p:sp>
      <p:cxnSp>
        <p:nvCxnSpPr>
          <p:cNvPr id="39" name="직선 연결선 38"/>
          <p:cNvCxnSpPr/>
          <p:nvPr/>
        </p:nvCxnSpPr>
        <p:spPr>
          <a:xfrm flipH="1">
            <a:off x="340597" y="1268760"/>
            <a:ext cx="7740892" cy="0"/>
          </a:xfrm>
          <a:prstGeom prst="line">
            <a:avLst/>
          </a:prstGeom>
          <a:ln>
            <a:solidFill>
              <a:srgbClr val="0C2759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>
          <a:xfrm>
            <a:off x="6553200" y="6520259"/>
            <a:ext cx="2133600" cy="365125"/>
          </a:xfrm>
        </p:spPr>
        <p:txBody>
          <a:bodyPr/>
          <a:lstStyle/>
          <a:p>
            <a:pPr lvl="0">
              <a:defRPr/>
            </a:pPr>
            <a:fld id="{7804239B-D302-47C8-870F-9A3CEECBE377}" type="slidenum">
              <a:rPr lang="en-US" altLang="en-US">
                <a:solidFill>
                  <a:schemeClr val="bg1">
                    <a:lumMod val="50000"/>
                  </a:schemeClr>
                </a:solidFill>
                <a:latin typeface="KoPub돋움체_Pro Bold"/>
                <a:ea typeface="KoPub돋움체_Pro Bold"/>
              </a:rPr>
              <a:pPr lvl="0">
                <a:defRPr/>
              </a:pPr>
              <a:t>9</a:t>
            </a:fld>
            <a:endParaRPr lang="en-US" altLang="en-US">
              <a:solidFill>
                <a:schemeClr val="bg1">
                  <a:lumMod val="50000"/>
                </a:schemeClr>
              </a:solidFill>
              <a:latin typeface="KoPub돋움체_Pro Bold"/>
              <a:ea typeface="KoPub돋움체_Pro Bold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0" y="6534835"/>
            <a:ext cx="4111625" cy="3117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500">
                <a:solidFill>
                  <a:schemeClr val="bg1">
                    <a:lumMod val="50000"/>
                  </a:schemeClr>
                </a:solidFill>
                <a:latin typeface="KoPub돋움체_Pro Bold"/>
                <a:ea typeface="KoPub돋움체_Pro Bold"/>
              </a:rPr>
              <a:t>충북대학교 </a:t>
            </a:r>
            <a:r>
              <a:rPr lang="en-US" altLang="ko-KR" sz="1500">
                <a:solidFill>
                  <a:schemeClr val="bg1">
                    <a:lumMod val="50000"/>
                  </a:schemeClr>
                </a:solidFill>
                <a:latin typeface="KoPub돋움체_Pro Bold"/>
                <a:ea typeface="KoPub돋움체_Pro Bold"/>
              </a:rPr>
              <a:t>SW</a:t>
            </a:r>
            <a:r>
              <a:rPr lang="ko-KR" altLang="en-US" sz="1500">
                <a:solidFill>
                  <a:schemeClr val="bg1">
                    <a:lumMod val="50000"/>
                  </a:schemeClr>
                </a:solidFill>
                <a:latin typeface="KoPub돋움체_Pro Bold"/>
                <a:ea typeface="KoPub돋움체_Pro Bold"/>
              </a:rPr>
              <a:t>중심대학사업단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7" name="그림 307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557808" y="1656194"/>
            <a:ext cx="8028384" cy="4229616"/>
          </a:xfrm>
          <a:prstGeom prst="rect">
            <a:avLst/>
          </a:prstGeom>
        </p:spPr>
      </p:pic>
      <p:sp>
        <p:nvSpPr>
          <p:cNvPr id="105" name="직사각형 104"/>
          <p:cNvSpPr/>
          <p:nvPr/>
        </p:nvSpPr>
        <p:spPr>
          <a:xfrm>
            <a:off x="8172400" y="0"/>
            <a:ext cx="792088" cy="1844824"/>
          </a:xfrm>
          <a:prstGeom prst="rect">
            <a:avLst/>
          </a:prstGeom>
          <a:solidFill>
            <a:srgbClr val="0C27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a옛날목욕탕L"/>
              <a:ea typeface="a옛날목욕탕L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25789" y="535710"/>
            <a:ext cx="5760640" cy="58477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3200" b="1" dirty="0">
                <a:solidFill>
                  <a:srgbClr val="0C2759"/>
                </a:solidFill>
                <a:latin typeface="a옛날목욕탕L"/>
                <a:ea typeface="a옛날목욕탕L"/>
              </a:rPr>
              <a:t>3.3 AWS </a:t>
            </a:r>
            <a:r>
              <a:rPr lang="ko-KR" altLang="en-US" sz="3200" b="1" dirty="0">
                <a:solidFill>
                  <a:srgbClr val="0C2759"/>
                </a:solidFill>
                <a:latin typeface="a옛날목욕탕L"/>
                <a:ea typeface="a옛날목욕탕L"/>
              </a:rPr>
              <a:t>보안 공유 모델</a:t>
            </a:r>
          </a:p>
        </p:txBody>
      </p:sp>
      <p:cxnSp>
        <p:nvCxnSpPr>
          <p:cNvPr id="39" name="직선 연결선 38"/>
          <p:cNvCxnSpPr/>
          <p:nvPr/>
        </p:nvCxnSpPr>
        <p:spPr>
          <a:xfrm flipH="1">
            <a:off x="340597" y="1268760"/>
            <a:ext cx="7740892" cy="0"/>
          </a:xfrm>
          <a:prstGeom prst="line">
            <a:avLst/>
          </a:prstGeom>
          <a:ln>
            <a:solidFill>
              <a:srgbClr val="0C2759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01554" y="1396824"/>
            <a:ext cx="6912768" cy="696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2000">
                <a:solidFill>
                  <a:schemeClr val="bg1"/>
                </a:solidFill>
                <a:latin typeface="KoPub돋움체_Pro Bold"/>
                <a:ea typeface="KoPub돋움체_Pro Bold"/>
              </a:rPr>
              <a:t>AWS</a:t>
            </a:r>
            <a:r>
              <a:rPr lang="ko-KR" altLang="en-US" sz="2000">
                <a:solidFill>
                  <a:schemeClr val="bg1"/>
                </a:solidFill>
                <a:latin typeface="KoPub돋움체_Pro Bold"/>
                <a:ea typeface="KoPub돋움체_Pro Bold"/>
              </a:rPr>
              <a:t>는 전 세계 </a:t>
            </a:r>
            <a:r>
              <a:rPr lang="en-US" altLang="ko-KR" sz="2000">
                <a:solidFill>
                  <a:schemeClr val="bg1"/>
                </a:solidFill>
                <a:latin typeface="KoPub돋움체_Pro Bold"/>
                <a:ea typeface="KoPub돋움체_Pro Bold"/>
              </a:rPr>
              <a:t>22</a:t>
            </a:r>
            <a:r>
              <a:rPr lang="ko-KR" altLang="en-US" sz="2000">
                <a:solidFill>
                  <a:schemeClr val="bg1"/>
                </a:solidFill>
                <a:latin typeface="KoPub돋움체_Pro Bold"/>
                <a:ea typeface="KoPub돋움체_Pro Bold"/>
              </a:rPr>
              <a:t>개의 지리적 리전 내에 </a:t>
            </a:r>
            <a:r>
              <a:rPr lang="en-US" altLang="ko-KR" sz="2000">
                <a:solidFill>
                  <a:schemeClr val="bg1"/>
                </a:solidFill>
                <a:latin typeface="KoPub돋움체_Pro Bold"/>
                <a:ea typeface="KoPub돋움체_Pro Bold"/>
              </a:rPr>
              <a:t>69</a:t>
            </a:r>
            <a:r>
              <a:rPr lang="ko-KR" altLang="en-US" sz="2000">
                <a:solidFill>
                  <a:schemeClr val="bg1"/>
                </a:solidFill>
                <a:latin typeface="KoPub돋움체_Pro Bold"/>
                <a:ea typeface="KoPub돋움체_Pro Bold"/>
              </a:rPr>
              <a:t>개의 가용 영역을 운영하고있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>
          <a:xfrm>
            <a:off x="6553200" y="6520259"/>
            <a:ext cx="2133600" cy="365125"/>
          </a:xfrm>
        </p:spPr>
        <p:txBody>
          <a:bodyPr/>
          <a:lstStyle/>
          <a:p>
            <a:pPr lvl="0">
              <a:defRPr/>
            </a:pPr>
            <a:fld id="{7804239B-D302-47C8-870F-9A3CEECBE377}" type="slidenum">
              <a:rPr lang="en-US" altLang="en-US">
                <a:solidFill>
                  <a:schemeClr val="bg1">
                    <a:lumMod val="50000"/>
                  </a:schemeClr>
                </a:solidFill>
                <a:latin typeface="KoPub돋움체_Pro Bold"/>
                <a:ea typeface="KoPub돋움체_Pro Bold"/>
              </a:rPr>
              <a:pPr lvl="0">
                <a:defRPr/>
              </a:pPr>
              <a:t>10</a:t>
            </a:fld>
            <a:endParaRPr lang="en-US" altLang="en-US">
              <a:solidFill>
                <a:schemeClr val="bg1">
                  <a:lumMod val="50000"/>
                </a:schemeClr>
              </a:solidFill>
              <a:latin typeface="KoPub돋움체_Pro Bold"/>
              <a:ea typeface="KoPub돋움체_Pro Bold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0" y="6534835"/>
            <a:ext cx="4111625" cy="3117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500">
                <a:solidFill>
                  <a:schemeClr val="bg1">
                    <a:lumMod val="50000"/>
                  </a:schemeClr>
                </a:solidFill>
                <a:latin typeface="KoPub돋움체_Pro Bold"/>
                <a:ea typeface="KoPub돋움체_Pro Bold"/>
              </a:rPr>
              <a:t>충북대학교 </a:t>
            </a:r>
            <a:r>
              <a:rPr lang="en-US" altLang="ko-KR" sz="1500">
                <a:solidFill>
                  <a:schemeClr val="bg1">
                    <a:lumMod val="50000"/>
                  </a:schemeClr>
                </a:solidFill>
                <a:latin typeface="KoPub돋움체_Pro Bold"/>
                <a:ea typeface="KoPub돋움체_Pro Bold"/>
              </a:rPr>
              <a:t>SW</a:t>
            </a:r>
            <a:r>
              <a:rPr lang="ko-KR" altLang="en-US" sz="1500">
                <a:solidFill>
                  <a:schemeClr val="bg1">
                    <a:lumMod val="50000"/>
                  </a:schemeClr>
                </a:solidFill>
                <a:latin typeface="KoPub돋움체_Pro Bold"/>
                <a:ea typeface="KoPub돋움체_Pro Bold"/>
              </a:rPr>
              <a:t>중심대학사업단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9" name="그림 3078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604798" y="1666524"/>
            <a:ext cx="8068897" cy="4215163"/>
          </a:xfrm>
          <a:prstGeom prst="rect">
            <a:avLst/>
          </a:prstGeom>
        </p:spPr>
      </p:pic>
      <p:sp>
        <p:nvSpPr>
          <p:cNvPr id="105" name="직사각형 104"/>
          <p:cNvSpPr/>
          <p:nvPr/>
        </p:nvSpPr>
        <p:spPr>
          <a:xfrm>
            <a:off x="8172400" y="0"/>
            <a:ext cx="792088" cy="1844824"/>
          </a:xfrm>
          <a:prstGeom prst="rect">
            <a:avLst/>
          </a:prstGeom>
          <a:solidFill>
            <a:srgbClr val="0C27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a옛날목욕탕L"/>
              <a:ea typeface="a옛날목욕탕L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67544" y="533453"/>
            <a:ext cx="5760640" cy="58477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3200" b="1" dirty="0">
                <a:solidFill>
                  <a:srgbClr val="0C2759"/>
                </a:solidFill>
                <a:latin typeface="a옛날목욕탕L"/>
                <a:ea typeface="a옛날목욕탕L"/>
              </a:rPr>
              <a:t>3.4 AWS</a:t>
            </a:r>
            <a:r>
              <a:rPr lang="ko-KR" altLang="en-US" sz="3200" b="1" dirty="0">
                <a:solidFill>
                  <a:srgbClr val="0C2759"/>
                </a:solidFill>
                <a:latin typeface="a옛날목욕탕L"/>
                <a:ea typeface="a옛날목욕탕L"/>
              </a:rPr>
              <a:t> 서비스 포트폴리오</a:t>
            </a:r>
          </a:p>
        </p:txBody>
      </p:sp>
      <p:cxnSp>
        <p:nvCxnSpPr>
          <p:cNvPr id="39" name="직선 연결선 38"/>
          <p:cNvCxnSpPr/>
          <p:nvPr/>
        </p:nvCxnSpPr>
        <p:spPr>
          <a:xfrm flipH="1">
            <a:off x="340597" y="1268760"/>
            <a:ext cx="7740892" cy="0"/>
          </a:xfrm>
          <a:prstGeom prst="line">
            <a:avLst/>
          </a:prstGeom>
          <a:ln>
            <a:solidFill>
              <a:srgbClr val="0C2759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>
          <a:xfrm>
            <a:off x="6553200" y="6520259"/>
            <a:ext cx="2133600" cy="365125"/>
          </a:xfrm>
        </p:spPr>
        <p:txBody>
          <a:bodyPr/>
          <a:lstStyle/>
          <a:p>
            <a:pPr lvl="0">
              <a:defRPr/>
            </a:pPr>
            <a:fld id="{7804239B-D302-47C8-870F-9A3CEECBE377}" type="slidenum">
              <a:rPr lang="en-US" altLang="en-US">
                <a:solidFill>
                  <a:schemeClr val="bg1">
                    <a:lumMod val="50000"/>
                  </a:schemeClr>
                </a:solidFill>
                <a:latin typeface="KoPub돋움체_Pro Bold"/>
                <a:ea typeface="KoPub돋움체_Pro Bold"/>
              </a:rPr>
              <a:pPr lvl="0">
                <a:defRPr/>
              </a:pPr>
              <a:t>11</a:t>
            </a:fld>
            <a:endParaRPr lang="en-US" altLang="en-US">
              <a:solidFill>
                <a:schemeClr val="bg1">
                  <a:lumMod val="50000"/>
                </a:schemeClr>
              </a:solidFill>
              <a:latin typeface="KoPub돋움체_Pro Bold"/>
              <a:ea typeface="KoPub돋움체_Pro Bold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0" y="6534835"/>
            <a:ext cx="4111625" cy="3117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500">
                <a:solidFill>
                  <a:schemeClr val="bg1">
                    <a:lumMod val="50000"/>
                  </a:schemeClr>
                </a:solidFill>
                <a:latin typeface="KoPub돋움체_Pro Bold"/>
                <a:ea typeface="KoPub돋움체_Pro Bold"/>
              </a:rPr>
              <a:t>충북대학교 </a:t>
            </a:r>
            <a:r>
              <a:rPr lang="en-US" altLang="ko-KR" sz="1500">
                <a:solidFill>
                  <a:schemeClr val="bg1">
                    <a:lumMod val="50000"/>
                  </a:schemeClr>
                </a:solidFill>
                <a:latin typeface="KoPub돋움체_Pro Bold"/>
                <a:ea typeface="KoPub돋움체_Pro Bold"/>
              </a:rPr>
              <a:t>SW</a:t>
            </a:r>
            <a:r>
              <a:rPr lang="ko-KR" altLang="en-US" sz="1500">
                <a:solidFill>
                  <a:schemeClr val="bg1">
                    <a:lumMod val="50000"/>
                  </a:schemeClr>
                </a:solidFill>
                <a:latin typeface="KoPub돋움체_Pro Bold"/>
                <a:ea typeface="KoPub돋움체_Pro Bold"/>
              </a:rPr>
              <a:t>중심대학사업단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직선 연결선 9"/>
          <p:cNvCxnSpPr/>
          <p:nvPr/>
        </p:nvCxnSpPr>
        <p:spPr>
          <a:xfrm>
            <a:off x="2512343" y="620688"/>
            <a:ext cx="352839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068887" y="6534835"/>
            <a:ext cx="4111625" cy="540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500">
                <a:solidFill>
                  <a:schemeClr val="bg1"/>
                </a:solidFill>
                <a:latin typeface="KoPub돋움체_Pro Bold"/>
                <a:ea typeface="KoPub돋움체_Pro Bold"/>
              </a:rPr>
              <a:t>충북대학교 소프트웨어중심사업단 오픈소스</a:t>
            </a:r>
            <a:r>
              <a:rPr lang="en-US" altLang="ko-KR" sz="1500">
                <a:solidFill>
                  <a:schemeClr val="bg1"/>
                </a:solidFill>
                <a:latin typeface="KoPub돋움체_Pro Bold"/>
                <a:ea typeface="KoPub돋움체_Pro Bold"/>
              </a:rPr>
              <a:t>SW</a:t>
            </a:r>
            <a:r>
              <a:rPr lang="ko-KR" altLang="en-US" sz="1500">
                <a:solidFill>
                  <a:schemeClr val="bg1"/>
                </a:solidFill>
                <a:latin typeface="KoPub돋움체_Pro Bold"/>
                <a:ea typeface="KoPub돋움체_Pro Bold"/>
              </a:rPr>
              <a:t>센터 </a:t>
            </a:r>
          </a:p>
        </p:txBody>
      </p:sp>
      <p:sp>
        <p:nvSpPr>
          <p:cNvPr id="20" name="사각형: 둥근 모서리 19"/>
          <p:cNvSpPr/>
          <p:nvPr/>
        </p:nvSpPr>
        <p:spPr>
          <a:xfrm>
            <a:off x="323528" y="188640"/>
            <a:ext cx="8496944" cy="6346195"/>
          </a:xfrm>
          <a:prstGeom prst="roundRect">
            <a:avLst>
              <a:gd name="adj" fmla="val 16667"/>
            </a:avLst>
          </a:prstGeom>
          <a:noFill/>
          <a:ln>
            <a:solidFill>
              <a:srgbClr val="90400E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2286000" y="1628800"/>
            <a:ext cx="4572000" cy="325355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직사각형 104"/>
          <p:cNvSpPr/>
          <p:nvPr/>
        </p:nvSpPr>
        <p:spPr>
          <a:xfrm>
            <a:off x="8172400" y="0"/>
            <a:ext cx="792088" cy="1844824"/>
          </a:xfrm>
          <a:prstGeom prst="rect">
            <a:avLst/>
          </a:prstGeom>
          <a:solidFill>
            <a:srgbClr val="0c27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a옛날목욕탕L"/>
              <a:ea typeface="a옛날목욕탕L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69045" y="489739"/>
            <a:ext cx="3744416" cy="57515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3200" b="1">
                <a:solidFill>
                  <a:srgbClr val="0c2759"/>
                </a:solidFill>
                <a:latin typeface="+mj-lt"/>
                <a:ea typeface="a옛날목욕탕L"/>
              </a:rPr>
              <a:t>2.1 AWS </a:t>
            </a:r>
            <a:r>
              <a:rPr lang="ko-KR" altLang="en-US" sz="3200" b="1">
                <a:solidFill>
                  <a:srgbClr val="0c2759"/>
                </a:solidFill>
                <a:latin typeface="+mj-lt"/>
                <a:ea typeface="a옛날목욕탕L"/>
              </a:rPr>
              <a:t>소개</a:t>
            </a:r>
            <a:endParaRPr lang="en-US" altLang="ko-KR" sz="3200" b="1">
              <a:solidFill>
                <a:srgbClr val="0c2759"/>
              </a:solidFill>
              <a:latin typeface="+mj-lt"/>
              <a:ea typeface="a옛날목욕탕L"/>
            </a:endParaRPr>
          </a:p>
        </p:txBody>
      </p:sp>
      <p:cxnSp>
        <p:nvCxnSpPr>
          <p:cNvPr id="39" name="직선 연결선 38"/>
          <p:cNvCxnSpPr/>
          <p:nvPr/>
        </p:nvCxnSpPr>
        <p:spPr>
          <a:xfrm flipH="1">
            <a:off x="340597" y="1268760"/>
            <a:ext cx="7740892" cy="0"/>
          </a:xfrm>
          <a:prstGeom prst="line">
            <a:avLst/>
          </a:prstGeom>
          <a:ln>
            <a:solidFill>
              <a:srgbClr val="0c2759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사각형: 둥근 모서리 7"/>
          <p:cNvSpPr/>
          <p:nvPr/>
        </p:nvSpPr>
        <p:spPr>
          <a:xfrm>
            <a:off x="971600" y="4428304"/>
            <a:ext cx="6965873" cy="1593805"/>
          </a:xfrm>
          <a:prstGeom prst="roundRect">
            <a:avLst>
              <a:gd name="adj" fmla="val 16667"/>
            </a:avLst>
          </a:prstGeom>
          <a:solidFill>
            <a:srgbClr val="0c27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a옛날목욕탕L"/>
              <a:ea typeface="a옛날목욕탕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178172" y="4532708"/>
            <a:ext cx="6552728" cy="1370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2400" b="1">
                <a:solidFill>
                  <a:schemeClr val="bg1"/>
                </a:solidFill>
                <a:ea typeface="KoPub돋움체_Pro Bold"/>
              </a:rPr>
              <a:t>Amazon Web Service</a:t>
            </a:r>
            <a:endParaRPr lang="en-US" altLang="ko-KR" sz="2400" b="1">
              <a:solidFill>
                <a:schemeClr val="bg1"/>
              </a:solidFill>
              <a:ea typeface="KoPub돋움체_Pro Bold"/>
            </a:endParaRPr>
          </a:p>
          <a:p>
            <a:pPr lvl="0">
              <a:defRPr/>
            </a:pPr>
            <a:endParaRPr lang="en-US" altLang="ko-KR" sz="2000">
              <a:solidFill>
                <a:schemeClr val="bg1"/>
              </a:solidFill>
              <a:ea typeface="KoPub돋움체_Pro Bold"/>
            </a:endParaRPr>
          </a:p>
          <a:p>
            <a:pPr lvl="0">
              <a:defRPr/>
            </a:pPr>
            <a:r>
              <a:rPr lang="ko-KR" altLang="en-US" sz="2000">
                <a:solidFill>
                  <a:schemeClr val="bg1"/>
                </a:solidFill>
                <a:latin typeface="KoPub돋움체_Pro Bold"/>
                <a:ea typeface="KoPub돋움체_Pro Bold"/>
              </a:rPr>
              <a:t>Amazon에서 제공하는 클라우드 서비스로, 서버</a:t>
            </a:r>
            <a:r>
              <a:rPr lang="en-US" altLang="ko-KR" sz="2000">
                <a:solidFill>
                  <a:schemeClr val="bg1"/>
                </a:solidFill>
                <a:latin typeface="KoPub돋움체_Pro Bold"/>
                <a:ea typeface="KoPub돋움체_Pro Bold"/>
              </a:rPr>
              <a:t>, </a:t>
            </a:r>
            <a:r>
              <a:rPr lang="ko-KR" altLang="en-US" sz="2000">
                <a:solidFill>
                  <a:schemeClr val="bg1"/>
                </a:solidFill>
                <a:latin typeface="KoPub돋움체_Pro Bold"/>
                <a:ea typeface="KoPub돋움체_Pro Bold"/>
              </a:rPr>
              <a:t>스토리지, 네트워크 인프라 등 다양한 서비스를 제공</a:t>
            </a:r>
            <a:endParaRPr lang="en-US" altLang="ko-KR" sz="2000">
              <a:solidFill>
                <a:schemeClr val="bg1"/>
              </a:solidFill>
              <a:ea typeface="KoPub돋움체_Pro Bold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>
          <a:xfrm>
            <a:off x="6553200" y="6808291"/>
            <a:ext cx="2133600" cy="365125"/>
          </a:xfrm>
        </p:spPr>
        <p:txBody>
          <a:bodyPr/>
          <a:lstStyle/>
          <a:p>
            <a:pPr lvl="0">
              <a:defRPr/>
            </a:pPr>
            <a:fld id="{7804239B-D302-47C8-870F-9A3CEECBE377}" type="slidenum">
              <a:rPr lang="en-US" altLang="en-US">
                <a:latin typeface="KoPub돋움체_Pro Bold"/>
                <a:ea typeface="KoPub돋움체_Pro Bold"/>
              </a:rPr>
              <a:pPr lvl="0">
                <a:defRPr/>
              </a:pPr>
              <a:t>12</a:t>
            </a:fld>
            <a:endParaRPr lang="en-US" altLang="en-US">
              <a:latin typeface="KoPub돋움체_Pro Bold"/>
              <a:ea typeface="KoPub돋움체_Pro Bold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0" y="6534835"/>
            <a:ext cx="4111625" cy="3117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500">
                <a:solidFill>
                  <a:schemeClr val="bg1">
                    <a:lumMod val="50000"/>
                  </a:schemeClr>
                </a:solidFill>
                <a:latin typeface="KoPub돋움체_Pro Bold"/>
                <a:ea typeface="KoPub돋움체_Pro Bold"/>
              </a:rPr>
              <a:t>충북대학교 </a:t>
            </a:r>
            <a:r>
              <a:rPr lang="en-US" altLang="ko-KR" sz="1500">
                <a:solidFill>
                  <a:schemeClr val="bg1">
                    <a:lumMod val="50000"/>
                  </a:schemeClr>
                </a:solidFill>
                <a:latin typeface="KoPub돋움체_Pro Bold"/>
                <a:ea typeface="KoPub돋움체_Pro Bold"/>
              </a:rPr>
              <a:t>SW</a:t>
            </a:r>
            <a:r>
              <a:rPr lang="ko-KR" altLang="en-US" sz="1500">
                <a:solidFill>
                  <a:schemeClr val="bg1">
                    <a:lumMod val="50000"/>
                  </a:schemeClr>
                </a:solidFill>
                <a:latin typeface="KoPub돋움체_Pro Bold"/>
                <a:ea typeface="KoPub돋움체_Pro Bold"/>
              </a:rPr>
              <a:t>중심대학사업단</a:t>
            </a:r>
            <a:endParaRPr lang="ko-KR" altLang="en-US" sz="1500">
              <a:solidFill>
                <a:schemeClr val="bg1">
                  <a:lumMod val="50000"/>
                </a:schemeClr>
              </a:solidFill>
              <a:latin typeface="KoPub돋움체_Pro Bold"/>
              <a:ea typeface="KoPub돋움체_Pro Bold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907704" y="1678903"/>
            <a:ext cx="4680520" cy="254217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p="http://schemas.openxmlformats.org/presentation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p="http://schemas.openxmlformats.org/presentation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338</ep:Words>
  <ep:PresentationFormat>화면 슬라이드 쇼(4:3)</ep:PresentationFormat>
  <ep:Paragraphs>76</ep:Paragraphs>
  <ep:Slides>13</ep:Slides>
  <ep:Notes>10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ep:HeadingPairs>
  <ep:TitlesOfParts>
    <vt:vector size="14" baseType="lpstr">
      <vt:lpstr>Office 테마</vt:lpstr>
      <vt:lpstr>슬라이드 1</vt:lpstr>
      <vt:lpstr>PowerPoint 프레젠테이션</vt:lpstr>
      <vt:lpstr>PowerPoint 프레젠테이션</vt:lpstr>
      <vt:lpstr>PowerPoint 프레젠테이션</vt:lpstr>
      <vt:lpstr>슬라이드 5</vt:lpstr>
      <vt:lpstr>PowerPoint 프레젠테이션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2014-04-11T08:18:22.000</dcterms:created>
  <dc:creator>NSM</dc:creator>
  <cp:lastModifiedBy>jtm06</cp:lastModifiedBy>
  <dcterms:modified xsi:type="dcterms:W3CDTF">2020-03-17T11:17:42.957</dcterms:modified>
  <cp:revision>180</cp:revision>
  <dc:title>슬라이드 0</dc:title>
  <cp:version>1000.0000.01</cp:version>
</cp:coreProperties>
</file>